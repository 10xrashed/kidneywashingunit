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59"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4630400" cy="8229600"/>
  <p:notesSz cx="8229600" cy="14630400"/>
  <p:embeddedFontLst>
    <p:embeddedFont>
      <p:font typeface="Fira Sans" panose="020F0502020204030204" pitchFamily="34" charset="0"/>
      <p:regular r:id="rId12"/>
    </p:embeddedFont>
    <p:embeddedFont>
      <p:font typeface="Inconsolata Bold" pitchFamily="1" charset="0"/>
      <p:bold r:id="rId1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3" d="100"/>
          <a:sy n="93" d="100"/>
        </p:scale>
        <p:origin x="52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794998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1346836"/>
            <a:ext cx="10972800" cy="2865120"/>
          </a:xfrm>
        </p:spPr>
        <p:txBody>
          <a:bodyPr anchor="b"/>
          <a:lstStyle>
            <a:lvl1pPr algn="ctr">
              <a:defRPr sz="7200"/>
            </a:lvl1pPr>
          </a:lstStyle>
          <a:p>
            <a:r>
              <a:rPr lang="en-US"/>
              <a:t>Click to edit Master title style</a:t>
            </a:r>
            <a:endParaRPr lang="en-US" dirty="0"/>
          </a:p>
        </p:txBody>
      </p:sp>
      <p:sp>
        <p:nvSpPr>
          <p:cNvPr id="3" name="Subtitle 2"/>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4097786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8905928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98220" y="2051686"/>
            <a:ext cx="12618720" cy="3423284"/>
          </a:xfrm>
        </p:spPr>
        <p:txBody>
          <a:bodyPr anchor="b"/>
          <a:lstStyle>
            <a:lvl1pPr>
              <a:defRPr sz="7200"/>
            </a:lvl1pPr>
          </a:lstStyle>
          <a:p>
            <a:r>
              <a:rPr lang="en-US"/>
              <a:t>Click to edit Master title style</a:t>
            </a:r>
            <a:endParaRPr lang="en-US" dirty="0"/>
          </a:p>
        </p:txBody>
      </p:sp>
      <p:sp>
        <p:nvSpPr>
          <p:cNvPr id="3" name="Text Placeholder 2"/>
          <p:cNvSpPr>
            <a:spLocks noGrp="1"/>
          </p:cNvSpPr>
          <p:nvPr>
            <p:ph type="body" idx="1"/>
          </p:nvPr>
        </p:nvSpPr>
        <p:spPr>
          <a:xfrm>
            <a:off x="998220" y="5507356"/>
            <a:ext cx="12618720" cy="1800224"/>
          </a:xfrm>
        </p:spPr>
        <p:txBody>
          <a:bodyPr/>
          <a:lstStyle>
            <a:lvl1pPr marL="0" indent="0">
              <a:buNone/>
              <a:defRPr sz="2880">
                <a:solidFill>
                  <a:schemeClr val="tx1">
                    <a:tint val="75000"/>
                  </a:schemeClr>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7/24/2025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78779485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058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4066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7/24/2025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21433584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07746" y="438150"/>
            <a:ext cx="12618720" cy="159067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1007746" y="3006090"/>
            <a:ext cx="6189344"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7406640" y="3006090"/>
            <a:ext cx="6219826"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7/24/2025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14435158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7/24/2025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0751992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7/24/2025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26833276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US" dirty="0"/>
          </a:p>
        </p:txBody>
      </p:sp>
      <p:sp>
        <p:nvSpPr>
          <p:cNvPr id="3" name="Content Placeholder 2"/>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7/24/2025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4642966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US" dirty="0"/>
          </a:p>
        </p:txBody>
      </p:sp>
      <p:sp>
        <p:nvSpPr>
          <p:cNvPr id="3" name="Picture Placeholder 2"/>
          <p:cNvSpPr>
            <a:spLocks noGrp="1" noChangeAspect="1"/>
          </p:cNvSpPr>
          <p:nvPr>
            <p:ph type="pic" idx="1"/>
          </p:nvPr>
        </p:nvSpPr>
        <p:spPr>
          <a:xfrm>
            <a:off x="6219826" y="1184911"/>
            <a:ext cx="7406640" cy="5848350"/>
          </a:xfrm>
        </p:spPr>
        <p:txBody>
          <a:bodyPr anchor="t"/>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7/24/2025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9150315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08143121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469880" y="438150"/>
            <a:ext cx="3154680" cy="69742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05840" y="438150"/>
            <a:ext cx="9281160" cy="69742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2426920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13469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06690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67738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71161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58545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41015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8586516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73818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70328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75000"/>
                  </a:schemeClr>
                </a:solidFill>
              </a:defRPr>
            </a:lvl1pPr>
          </a:lstStyle>
          <a:p>
            <a:fld id="{C764DE79-268F-4C1A-8933-263129D2AF90}" type="datetimeFigureOut">
              <a:rPr lang="en-US" dirty="0"/>
              <a:t>7/24/2025</a:t>
            </a:fld>
            <a:endParaRPr lang="en-US" dirty="0"/>
          </a:p>
        </p:txBody>
      </p:sp>
      <p:sp>
        <p:nvSpPr>
          <p:cNvPr id="5" name="Footer Placeholder 4"/>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3970561883"/>
      </p:ext>
    </p:extLst>
  </p:cSld>
  <p:clrMap bg1="dk1" tx1="lt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Lst>
  <p:hf sldNum="0"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4.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9.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6832314" y="807993"/>
            <a:ext cx="8507002" cy="6380252"/>
          </a:xfrm>
          <a:prstGeom prst="rect">
            <a:avLst/>
          </a:prstGeom>
        </p:spPr>
      </p:pic>
      <p:sp>
        <p:nvSpPr>
          <p:cNvPr id="3" name="Text 0"/>
          <p:cNvSpPr/>
          <p:nvPr/>
        </p:nvSpPr>
        <p:spPr>
          <a:xfrm>
            <a:off x="793790" y="2757964"/>
            <a:ext cx="7556421" cy="1240155"/>
          </a:xfrm>
          <a:prstGeom prst="rect">
            <a:avLst/>
          </a:prstGeom>
          <a:noFill/>
          <a:ln/>
        </p:spPr>
        <p:txBody>
          <a:bodyPr wrap="square" lIns="0" tIns="0" rIns="0" bIns="0" rtlCol="0" anchor="t"/>
          <a:lstStyle/>
          <a:p>
            <a:pPr marL="0" indent="0" algn="ctr">
              <a:lnSpc>
                <a:spcPts val="4850"/>
              </a:lnSpc>
              <a:buNone/>
            </a:pPr>
            <a:r>
              <a:rPr lang="en-US" sz="3900" b="1" dirty="0">
                <a:solidFill>
                  <a:srgbClr val="F94CAF"/>
                </a:solidFill>
                <a:latin typeface="Inconsolata Bold" pitchFamily="34" charset="0"/>
                <a:ea typeface="Inconsolata Bold" pitchFamily="34" charset="-122"/>
                <a:cs typeface="Inconsolata Bold" pitchFamily="34" charset="-120"/>
              </a:rPr>
              <a:t>Kidney Washing Unit – Portable Smart Dialysis</a:t>
            </a:r>
            <a:endParaRPr lang="en-US" sz="3900" dirty="0"/>
          </a:p>
        </p:txBody>
      </p:sp>
      <p:sp>
        <p:nvSpPr>
          <p:cNvPr id="4" name="Text 1"/>
          <p:cNvSpPr/>
          <p:nvPr/>
        </p:nvSpPr>
        <p:spPr>
          <a:xfrm>
            <a:off x="793790" y="4295775"/>
            <a:ext cx="7556421" cy="317540"/>
          </a:xfrm>
          <a:prstGeom prst="rect">
            <a:avLst/>
          </a:prstGeom>
          <a:noFill/>
          <a:ln/>
        </p:spPr>
        <p:txBody>
          <a:bodyPr wrap="none" lIns="0" tIns="0" rIns="0" bIns="0" rtlCol="0" anchor="t"/>
          <a:lstStyle/>
          <a:p>
            <a:pPr marL="0" indent="0" algn="ctr">
              <a:lnSpc>
                <a:spcPts val="2500"/>
              </a:lnSpc>
              <a:buNone/>
            </a:pPr>
            <a:r>
              <a:rPr lang="en-US" sz="1550" dirty="0">
                <a:solidFill>
                  <a:srgbClr val="DAD1E6"/>
                </a:solidFill>
                <a:latin typeface="Fira Sans" pitchFamily="34" charset="0"/>
                <a:ea typeface="Fira Sans" pitchFamily="34" charset="-122"/>
                <a:cs typeface="Fira Sans" pitchFamily="34" charset="-120"/>
              </a:rPr>
              <a:t>By: </a:t>
            </a:r>
            <a:r>
              <a:rPr lang="en-US" sz="1550" b="1" dirty="0">
                <a:solidFill>
                  <a:srgbClr val="DAD1E6"/>
                </a:solidFill>
                <a:latin typeface="Fira Sans" pitchFamily="34" charset="0"/>
                <a:ea typeface="Fira Sans" pitchFamily="34" charset="-122"/>
                <a:cs typeface="Fira Sans" pitchFamily="34" charset="-120"/>
              </a:rPr>
              <a:t>Black Iris</a:t>
            </a:r>
            <a:endParaRPr lang="en-US" sz="1550" dirty="0"/>
          </a:p>
        </p:txBody>
      </p:sp>
      <p:sp>
        <p:nvSpPr>
          <p:cNvPr id="5" name="Text 2"/>
          <p:cNvSpPr/>
          <p:nvPr/>
        </p:nvSpPr>
        <p:spPr>
          <a:xfrm>
            <a:off x="793790" y="4836557"/>
            <a:ext cx="7556421" cy="635079"/>
          </a:xfrm>
          <a:prstGeom prst="rect">
            <a:avLst/>
          </a:prstGeom>
          <a:noFill/>
          <a:ln/>
        </p:spPr>
        <p:txBody>
          <a:bodyPr wrap="square" lIns="0" tIns="0" rIns="0" bIns="0" rtlCol="0" anchor="t"/>
          <a:lstStyle/>
          <a:p>
            <a:pPr marL="0" indent="0" algn="ctr">
              <a:lnSpc>
                <a:spcPts val="2500"/>
              </a:lnSpc>
              <a:buNone/>
            </a:pPr>
            <a:r>
              <a:rPr lang="en-US" sz="1550" dirty="0">
                <a:solidFill>
                  <a:srgbClr val="DAD1E6"/>
                </a:solidFill>
                <a:latin typeface="Fira Sans" pitchFamily="34" charset="0"/>
                <a:ea typeface="Fira Sans" pitchFamily="34" charset="-122"/>
                <a:cs typeface="Fira Sans" pitchFamily="34" charset="-120"/>
              </a:rPr>
              <a:t>A next-generation real-time dialysis monitoring and control system for mobile medical environments.</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50094" y="807125"/>
            <a:ext cx="11015663" cy="586026"/>
          </a:xfrm>
          <a:prstGeom prst="rect">
            <a:avLst/>
          </a:prstGeom>
          <a:noFill/>
          <a:ln/>
        </p:spPr>
        <p:txBody>
          <a:bodyPr wrap="none" lIns="0" tIns="0" rIns="0" bIns="0" rtlCol="0" anchor="t"/>
          <a:lstStyle/>
          <a:p>
            <a:pPr marL="0" indent="0" algn="l">
              <a:lnSpc>
                <a:spcPts val="4600"/>
              </a:lnSpc>
              <a:buNone/>
            </a:pPr>
            <a:r>
              <a:rPr lang="en-US" sz="3650" b="1" dirty="0">
                <a:solidFill>
                  <a:srgbClr val="F94CAF"/>
                </a:solidFill>
                <a:latin typeface="Inconsolata Bold" pitchFamily="34" charset="0"/>
                <a:ea typeface="Inconsolata Bold" pitchFamily="34" charset="-122"/>
                <a:cs typeface="Inconsolata Bold" pitchFamily="34" charset="-120"/>
              </a:rPr>
              <a:t>Jordan’s Dialysis Crisis – The Problem We Solve</a:t>
            </a:r>
            <a:endParaRPr lang="en-US" sz="3650" dirty="0"/>
          </a:p>
        </p:txBody>
      </p:sp>
      <p:sp>
        <p:nvSpPr>
          <p:cNvPr id="3" name="Text 1"/>
          <p:cNvSpPr/>
          <p:nvPr/>
        </p:nvSpPr>
        <p:spPr>
          <a:xfrm>
            <a:off x="750094" y="1768197"/>
            <a:ext cx="13130213" cy="300038"/>
          </a:xfrm>
          <a:prstGeom prst="rect">
            <a:avLst/>
          </a:prstGeom>
          <a:noFill/>
          <a:ln/>
        </p:spPr>
        <p:txBody>
          <a:bodyPr wrap="none" lIns="0" tIns="0" rIns="0" bIns="0" rtlCol="0" anchor="t"/>
          <a:lstStyle/>
          <a:p>
            <a:pPr marL="0" indent="0" algn="l">
              <a:lnSpc>
                <a:spcPts val="2350"/>
              </a:lnSpc>
              <a:buNone/>
            </a:pPr>
            <a:r>
              <a:rPr lang="en-US" sz="1450" dirty="0">
                <a:solidFill>
                  <a:srgbClr val="DAD1E6"/>
                </a:solidFill>
                <a:latin typeface="Fira Sans" pitchFamily="34" charset="0"/>
                <a:ea typeface="Fira Sans" pitchFamily="34" charset="-122"/>
                <a:cs typeface="Fira Sans" pitchFamily="34" charset="-120"/>
              </a:rPr>
              <a:t>In Jordan, over </a:t>
            </a:r>
            <a:r>
              <a:rPr lang="en-US" sz="1450" b="1" dirty="0">
                <a:solidFill>
                  <a:srgbClr val="DAD1E6"/>
                </a:solidFill>
                <a:latin typeface="Fira Sans" pitchFamily="34" charset="0"/>
                <a:ea typeface="Fira Sans" pitchFamily="34" charset="-122"/>
                <a:cs typeface="Fira Sans" pitchFamily="34" charset="-120"/>
              </a:rPr>
              <a:t>8,000 kidney patients</a:t>
            </a:r>
            <a:r>
              <a:rPr lang="en-US" sz="1450" dirty="0">
                <a:solidFill>
                  <a:srgbClr val="DAD1E6"/>
                </a:solidFill>
                <a:latin typeface="Fira Sans" pitchFamily="34" charset="0"/>
                <a:ea typeface="Fira Sans" pitchFamily="34" charset="-122"/>
                <a:cs typeface="Fira Sans" pitchFamily="34" charset="-120"/>
              </a:rPr>
              <a:t> face major challenges in accessing regular dialysis, particularly in:</a:t>
            </a:r>
            <a:endParaRPr lang="en-US" sz="1450" dirty="0"/>
          </a:p>
        </p:txBody>
      </p:sp>
      <p:sp>
        <p:nvSpPr>
          <p:cNvPr id="4" name="Text 2"/>
          <p:cNvSpPr/>
          <p:nvPr/>
        </p:nvSpPr>
        <p:spPr>
          <a:xfrm>
            <a:off x="750094" y="2279094"/>
            <a:ext cx="13130213" cy="300038"/>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DAD1E6"/>
                </a:solidFill>
                <a:latin typeface="Fira Sans" pitchFamily="34" charset="0"/>
                <a:ea typeface="Fira Sans" pitchFamily="34" charset="-122"/>
                <a:cs typeface="Fira Sans" pitchFamily="34" charset="-120"/>
              </a:rPr>
              <a:t>Remote areas, including desert towns and rural villages, where healthcare infrastructure is often sparse.</a:t>
            </a:r>
            <a:endParaRPr lang="en-US" sz="1450" dirty="0"/>
          </a:p>
        </p:txBody>
      </p:sp>
      <p:sp>
        <p:nvSpPr>
          <p:cNvPr id="5" name="Text 3"/>
          <p:cNvSpPr/>
          <p:nvPr/>
        </p:nvSpPr>
        <p:spPr>
          <a:xfrm>
            <a:off x="750094" y="2644735"/>
            <a:ext cx="13130213" cy="300038"/>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DAD1E6"/>
                </a:solidFill>
                <a:latin typeface="Fira Sans" pitchFamily="34" charset="0"/>
                <a:ea typeface="Fira Sans" pitchFamily="34" charset="-122"/>
                <a:cs typeface="Fira Sans" pitchFamily="34" charset="-120"/>
              </a:rPr>
              <a:t>Refugee camps like Zaatari and Azraq, where residents have limited mobility and access to specialized medical facilities.</a:t>
            </a:r>
            <a:endParaRPr lang="en-US" sz="1450" dirty="0"/>
          </a:p>
        </p:txBody>
      </p:sp>
      <p:sp>
        <p:nvSpPr>
          <p:cNvPr id="6" name="Text 4"/>
          <p:cNvSpPr/>
          <p:nvPr/>
        </p:nvSpPr>
        <p:spPr>
          <a:xfrm>
            <a:off x="750094" y="3010376"/>
            <a:ext cx="13130213" cy="300038"/>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DAD1E6"/>
                </a:solidFill>
                <a:latin typeface="Fira Sans" pitchFamily="34" charset="0"/>
                <a:ea typeface="Fira Sans" pitchFamily="34" charset="-122"/>
                <a:cs typeface="Fira Sans" pitchFamily="34" charset="-120"/>
              </a:rPr>
              <a:t>Regions with restricted or underdeveloped infrastructure, making the transport of patients or equipment difficult and time-consuming.</a:t>
            </a:r>
            <a:endParaRPr lang="en-US" sz="1450" dirty="0"/>
          </a:p>
        </p:txBody>
      </p:sp>
      <p:sp>
        <p:nvSpPr>
          <p:cNvPr id="7" name="Text 5"/>
          <p:cNvSpPr/>
          <p:nvPr/>
        </p:nvSpPr>
        <p:spPr>
          <a:xfrm>
            <a:off x="1031319" y="3732133"/>
            <a:ext cx="12848987" cy="307658"/>
          </a:xfrm>
          <a:prstGeom prst="rect">
            <a:avLst/>
          </a:prstGeom>
          <a:noFill/>
          <a:ln/>
        </p:spPr>
        <p:txBody>
          <a:bodyPr wrap="none" lIns="0" tIns="0" rIns="0" bIns="0" rtlCol="0" anchor="t"/>
          <a:lstStyle/>
          <a:p>
            <a:pPr marL="0" indent="0" algn="l">
              <a:lnSpc>
                <a:spcPts val="2350"/>
              </a:lnSpc>
              <a:buNone/>
            </a:pPr>
            <a:r>
              <a:rPr lang="en-US" sz="1450" b="1" dirty="0">
                <a:solidFill>
                  <a:srgbClr val="000000"/>
                </a:solidFill>
                <a:latin typeface="Fira Sans" pitchFamily="34" charset="0"/>
                <a:ea typeface="Fira Sans" pitchFamily="34" charset="-122"/>
                <a:cs typeface="Fira Sans" pitchFamily="34" charset="-120"/>
              </a:rPr>
              <a:t>🚨</a:t>
            </a:r>
            <a:r>
              <a:rPr lang="en-US" sz="1450" dirty="0">
                <a:solidFill>
                  <a:srgbClr val="DAD1E6"/>
                </a:solidFill>
                <a:latin typeface="Fira Sans" pitchFamily="34" charset="0"/>
                <a:ea typeface="Fira Sans" pitchFamily="34" charset="-122"/>
                <a:cs typeface="Fira Sans" pitchFamily="34" charset="-120"/>
              </a:rPr>
              <a:t> The issue isn’t just hospital availability — it’s:</a:t>
            </a:r>
            <a:endParaRPr lang="en-US" sz="1450" dirty="0"/>
          </a:p>
        </p:txBody>
      </p:sp>
      <p:sp>
        <p:nvSpPr>
          <p:cNvPr id="8" name="Text 6"/>
          <p:cNvSpPr/>
          <p:nvPr/>
        </p:nvSpPr>
        <p:spPr>
          <a:xfrm>
            <a:off x="1031319" y="4250650"/>
            <a:ext cx="12848987" cy="300038"/>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DAD1E6"/>
                </a:solidFill>
                <a:latin typeface="Fira Sans" pitchFamily="34" charset="0"/>
                <a:ea typeface="Fira Sans" pitchFamily="34" charset="-122"/>
                <a:cs typeface="Fira Sans" pitchFamily="34" charset="-120"/>
              </a:rPr>
              <a:t>Long and often arduous travel distances to reach specialized dialysis clinics, imposing a significant burden on patients and their families.</a:t>
            </a:r>
            <a:endParaRPr lang="en-US" sz="1450" dirty="0"/>
          </a:p>
        </p:txBody>
      </p:sp>
      <p:sp>
        <p:nvSpPr>
          <p:cNvPr id="9" name="Text 7"/>
          <p:cNvSpPr/>
          <p:nvPr/>
        </p:nvSpPr>
        <p:spPr>
          <a:xfrm>
            <a:off x="1031319" y="4616291"/>
            <a:ext cx="12848987" cy="300038"/>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DAD1E6"/>
                </a:solidFill>
                <a:latin typeface="Fira Sans" pitchFamily="34" charset="0"/>
                <a:ea typeface="Fira Sans" pitchFamily="34" charset="-122"/>
                <a:cs typeface="Fira Sans" pitchFamily="34" charset="-120"/>
              </a:rPr>
              <a:t>Overloaded dialysis centers that struggle to accommodate the high demand, leading to long waiting times and delayed treatments.</a:t>
            </a:r>
            <a:endParaRPr lang="en-US" sz="1450" dirty="0"/>
          </a:p>
        </p:txBody>
      </p:sp>
      <p:sp>
        <p:nvSpPr>
          <p:cNvPr id="10" name="Text 8"/>
          <p:cNvSpPr/>
          <p:nvPr/>
        </p:nvSpPr>
        <p:spPr>
          <a:xfrm>
            <a:off x="1031319" y="4981932"/>
            <a:ext cx="12848987" cy="300038"/>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DAD1E6"/>
                </a:solidFill>
                <a:latin typeface="Fira Sans" pitchFamily="34" charset="0"/>
                <a:ea typeface="Fira Sans" pitchFamily="34" charset="-122"/>
                <a:cs typeface="Fira Sans" pitchFamily="34" charset="-120"/>
              </a:rPr>
              <a:t>A critical lack of real-time safety monitoring for existing mobile or home-based dialysis setups, which often operate without adequate oversight.</a:t>
            </a:r>
            <a:endParaRPr lang="en-US" sz="1450" dirty="0"/>
          </a:p>
        </p:txBody>
      </p:sp>
      <p:sp>
        <p:nvSpPr>
          <p:cNvPr id="11" name="Text 9"/>
          <p:cNvSpPr/>
          <p:nvPr/>
        </p:nvSpPr>
        <p:spPr>
          <a:xfrm>
            <a:off x="1031319" y="5492829"/>
            <a:ext cx="12848987" cy="900113"/>
          </a:xfrm>
          <a:prstGeom prst="rect">
            <a:avLst/>
          </a:prstGeom>
          <a:noFill/>
          <a:ln/>
        </p:spPr>
        <p:txBody>
          <a:bodyPr wrap="square" lIns="0" tIns="0" rIns="0" bIns="0" rtlCol="0" anchor="t"/>
          <a:lstStyle/>
          <a:p>
            <a:pPr marL="0" indent="0" algn="l">
              <a:lnSpc>
                <a:spcPts val="2350"/>
              </a:lnSpc>
              <a:buNone/>
            </a:pPr>
            <a:r>
              <a:rPr lang="en-US" sz="1450" dirty="0">
                <a:solidFill>
                  <a:srgbClr val="DAD1E6"/>
                </a:solidFill>
                <a:latin typeface="Fira Sans" pitchFamily="34" charset="0"/>
                <a:ea typeface="Fira Sans" pitchFamily="34" charset="-122"/>
                <a:cs typeface="Fira Sans" pitchFamily="34" charset="-120"/>
              </a:rPr>
              <a:t>Peritoneal dialysis, in particular, is extremely sensitive; if </a:t>
            </a:r>
            <a:r>
              <a:rPr lang="en-US" sz="1450" b="1" dirty="0">
                <a:solidFill>
                  <a:srgbClr val="DAD1E6"/>
                </a:solidFill>
                <a:latin typeface="Fira Sans" pitchFamily="34" charset="0"/>
                <a:ea typeface="Fira Sans" pitchFamily="34" charset="-122"/>
                <a:cs typeface="Fira Sans" pitchFamily="34" charset="-120"/>
              </a:rPr>
              <a:t>temperature, pressure, or conductivity</a:t>
            </a:r>
            <a:r>
              <a:rPr lang="en-US" sz="1450" dirty="0">
                <a:solidFill>
                  <a:srgbClr val="DAD1E6"/>
                </a:solidFill>
                <a:latin typeface="Fira Sans" pitchFamily="34" charset="0"/>
                <a:ea typeface="Fira Sans" pitchFamily="34" charset="-122"/>
                <a:cs typeface="Fira Sans" pitchFamily="34" charset="-120"/>
              </a:rPr>
              <a:t> deviate even slightly from the safe range, the patient's life is at immediate risk. Current mobile solutions typically lack the sophisticated real-time oversight necessary to detect and mitigate these dangers effectively.</a:t>
            </a:r>
            <a:endParaRPr lang="en-US" sz="1450" dirty="0"/>
          </a:p>
        </p:txBody>
      </p:sp>
      <p:sp>
        <p:nvSpPr>
          <p:cNvPr id="12" name="Shape 10"/>
          <p:cNvSpPr/>
          <p:nvPr/>
        </p:nvSpPr>
        <p:spPr>
          <a:xfrm>
            <a:off x="750094" y="3521273"/>
            <a:ext cx="22860" cy="3082528"/>
          </a:xfrm>
          <a:prstGeom prst="rect">
            <a:avLst/>
          </a:prstGeom>
          <a:solidFill>
            <a:srgbClr val="F94CAF"/>
          </a:solidFill>
          <a:ln/>
        </p:spPr>
        <p:txBody>
          <a:bodyPr/>
          <a:lstStyle/>
          <a:p>
            <a:endParaRPr lang="en-AE"/>
          </a:p>
        </p:txBody>
      </p:sp>
      <p:sp>
        <p:nvSpPr>
          <p:cNvPr id="13" name="Text 11"/>
          <p:cNvSpPr/>
          <p:nvPr/>
        </p:nvSpPr>
        <p:spPr>
          <a:xfrm>
            <a:off x="750094" y="6814661"/>
            <a:ext cx="13130213" cy="607695"/>
          </a:xfrm>
          <a:prstGeom prst="rect">
            <a:avLst/>
          </a:prstGeom>
          <a:noFill/>
          <a:ln/>
        </p:spPr>
        <p:txBody>
          <a:bodyPr wrap="square" lIns="0" tIns="0" rIns="0" bIns="0" rtlCol="0" anchor="t"/>
          <a:lstStyle/>
          <a:p>
            <a:pPr marL="0" indent="0" algn="l">
              <a:lnSpc>
                <a:spcPts val="2350"/>
              </a:lnSpc>
              <a:buNone/>
            </a:pPr>
            <a:r>
              <a:rPr lang="en-US" sz="1450" b="1" dirty="0">
                <a:solidFill>
                  <a:srgbClr val="000000"/>
                </a:solidFill>
                <a:latin typeface="Fira Sans" pitchFamily="34" charset="0"/>
                <a:ea typeface="Fira Sans" pitchFamily="34" charset="-122"/>
                <a:cs typeface="Fira Sans" pitchFamily="34" charset="-120"/>
              </a:rPr>
              <a:t>📉</a:t>
            </a:r>
            <a:r>
              <a:rPr lang="en-US" sz="1450" dirty="0">
                <a:solidFill>
                  <a:srgbClr val="DAD1E6"/>
                </a:solidFill>
                <a:latin typeface="Fira Sans" pitchFamily="34" charset="0"/>
                <a:ea typeface="Fira Sans" pitchFamily="34" charset="-122"/>
                <a:cs typeface="Fira Sans" pitchFamily="34" charset="-120"/>
              </a:rPr>
              <a:t> The result? A devastating cycle of missed treatment sessions, undetected complications escalating into severe health crises, frequent emergency hospitalizations, and ultimately, a higher mortality rate among kidney patients who cannot access consistent, safely monitored dialysis.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15089" y="491609"/>
            <a:ext cx="9160312" cy="558641"/>
          </a:xfrm>
          <a:prstGeom prst="rect">
            <a:avLst/>
          </a:prstGeom>
          <a:noFill/>
          <a:ln/>
        </p:spPr>
        <p:txBody>
          <a:bodyPr wrap="none" lIns="0" tIns="0" rIns="0" bIns="0" rtlCol="0" anchor="t"/>
          <a:lstStyle/>
          <a:p>
            <a:pPr marL="0" indent="0" algn="l">
              <a:lnSpc>
                <a:spcPts val="4350"/>
              </a:lnSpc>
              <a:buNone/>
            </a:pPr>
            <a:r>
              <a:rPr lang="en-US" sz="3500" b="1" dirty="0">
                <a:solidFill>
                  <a:srgbClr val="F94CAF"/>
                </a:solidFill>
                <a:latin typeface="Inconsolata Bold" pitchFamily="34" charset="0"/>
                <a:ea typeface="Inconsolata Bold" pitchFamily="34" charset="-122"/>
                <a:cs typeface="Inconsolata Bold" pitchFamily="34" charset="-120"/>
              </a:rPr>
              <a:t>Our Solution – Built for Jordan’s Reality</a:t>
            </a:r>
            <a:endParaRPr lang="en-US" sz="3500" dirty="0"/>
          </a:p>
        </p:txBody>
      </p:sp>
      <p:sp>
        <p:nvSpPr>
          <p:cNvPr id="3" name="Text 1"/>
          <p:cNvSpPr/>
          <p:nvPr/>
        </p:nvSpPr>
        <p:spPr>
          <a:xfrm>
            <a:off x="715089" y="1407795"/>
            <a:ext cx="13200221" cy="572214"/>
          </a:xfrm>
          <a:prstGeom prst="rect">
            <a:avLst/>
          </a:prstGeom>
          <a:noFill/>
          <a:ln/>
        </p:spPr>
        <p:txBody>
          <a:bodyPr wrap="square" lIns="0" tIns="0" rIns="0" bIns="0" rtlCol="0" anchor="t"/>
          <a:lstStyle/>
          <a:p>
            <a:pPr marL="0" indent="0" algn="l">
              <a:lnSpc>
                <a:spcPts val="2250"/>
              </a:lnSpc>
              <a:buNone/>
            </a:pPr>
            <a:r>
              <a:rPr lang="en-US" sz="1400" b="1" dirty="0">
                <a:solidFill>
                  <a:srgbClr val="DAD1E6"/>
                </a:solidFill>
                <a:latin typeface="Fira Sans" pitchFamily="34" charset="0"/>
                <a:ea typeface="Fira Sans" pitchFamily="34" charset="-122"/>
                <a:cs typeface="Fira Sans" pitchFamily="34" charset="-120"/>
              </a:rPr>
              <a:t>Black Iris</a:t>
            </a:r>
            <a:r>
              <a:rPr lang="en-US" sz="1400" dirty="0">
                <a:solidFill>
                  <a:srgbClr val="DAD1E6"/>
                </a:solidFill>
                <a:latin typeface="Fira Sans" pitchFamily="34" charset="0"/>
                <a:ea typeface="Fira Sans" pitchFamily="34" charset="-122"/>
                <a:cs typeface="Fira Sans" pitchFamily="34" charset="-120"/>
              </a:rPr>
              <a:t> has meticulously designed a comprehensive smart dialysis system, purpose-built to address Jordan’s unique healthcare challenges and improve patient outcomes significantly.</a:t>
            </a:r>
            <a:endParaRPr lang="en-US" sz="1400" dirty="0"/>
          </a:p>
        </p:txBody>
      </p:sp>
      <p:sp>
        <p:nvSpPr>
          <p:cNvPr id="4" name="Shape 2"/>
          <p:cNvSpPr/>
          <p:nvPr/>
        </p:nvSpPr>
        <p:spPr>
          <a:xfrm>
            <a:off x="715089" y="2449235"/>
            <a:ext cx="4280892" cy="2179320"/>
          </a:xfrm>
          <a:prstGeom prst="roundRect">
            <a:avLst>
              <a:gd name="adj" fmla="val 5035"/>
            </a:avLst>
          </a:prstGeom>
          <a:solidFill>
            <a:srgbClr val="241631"/>
          </a:solidFill>
          <a:ln/>
        </p:spPr>
        <p:txBody>
          <a:bodyPr/>
          <a:lstStyle/>
          <a:p>
            <a:endParaRPr lang="en-AE"/>
          </a:p>
        </p:txBody>
      </p:sp>
      <p:pic>
        <p:nvPicPr>
          <p:cNvPr id="5" name="Image 0" descr="preencoded.png"/>
          <p:cNvPicPr>
            <a:picLocks noChangeAspect="1"/>
          </p:cNvPicPr>
          <p:nvPr/>
        </p:nvPicPr>
        <p:blipFill>
          <a:blip r:embed="rId3"/>
          <a:stretch>
            <a:fillRect/>
          </a:stretch>
        </p:blipFill>
        <p:spPr>
          <a:xfrm>
            <a:off x="715089" y="2426375"/>
            <a:ext cx="4280892" cy="91440"/>
          </a:xfrm>
          <a:prstGeom prst="rect">
            <a:avLst/>
          </a:prstGeom>
        </p:spPr>
      </p:pic>
      <p:pic>
        <p:nvPicPr>
          <p:cNvPr id="6" name="Image 1" descr="preencoded.png"/>
          <p:cNvPicPr>
            <a:picLocks noChangeAspect="1"/>
          </p:cNvPicPr>
          <p:nvPr/>
        </p:nvPicPr>
        <p:blipFill>
          <a:blip r:embed="rId4"/>
          <a:stretch>
            <a:fillRect/>
          </a:stretch>
        </p:blipFill>
        <p:spPr>
          <a:xfrm>
            <a:off x="2587347" y="2181106"/>
            <a:ext cx="536258" cy="536258"/>
          </a:xfrm>
          <a:prstGeom prst="rect">
            <a:avLst/>
          </a:prstGeom>
        </p:spPr>
      </p:pic>
      <p:pic>
        <p:nvPicPr>
          <p:cNvPr id="7" name="Image 2" descr="preencoded.png"/>
          <p:cNvPicPr>
            <a:picLocks noChangeAspect="1"/>
          </p:cNvPicPr>
          <p:nvPr/>
        </p:nvPicPr>
        <p:blipFill>
          <a:blip r:embed="rId5"/>
          <a:stretch>
            <a:fillRect/>
          </a:stretch>
        </p:blipFill>
        <p:spPr>
          <a:xfrm>
            <a:off x="2748201" y="2315170"/>
            <a:ext cx="214432" cy="268129"/>
          </a:xfrm>
          <a:prstGeom prst="rect">
            <a:avLst/>
          </a:prstGeom>
        </p:spPr>
      </p:pic>
      <p:sp>
        <p:nvSpPr>
          <p:cNvPr id="8" name="Text 3"/>
          <p:cNvSpPr/>
          <p:nvPr/>
        </p:nvSpPr>
        <p:spPr>
          <a:xfrm>
            <a:off x="916662" y="2896076"/>
            <a:ext cx="3015496" cy="279321"/>
          </a:xfrm>
          <a:prstGeom prst="rect">
            <a:avLst/>
          </a:prstGeom>
          <a:noFill/>
          <a:ln/>
        </p:spPr>
        <p:txBody>
          <a:bodyPr wrap="none" lIns="0" tIns="0" rIns="0" bIns="0" rtlCol="0" anchor="t"/>
          <a:lstStyle/>
          <a:p>
            <a:pPr marL="0" indent="0" algn="l">
              <a:lnSpc>
                <a:spcPts val="2150"/>
              </a:lnSpc>
              <a:buNone/>
            </a:pPr>
            <a:r>
              <a:rPr lang="en-US" sz="1750" b="1" dirty="0">
                <a:solidFill>
                  <a:srgbClr val="DAD1E6"/>
                </a:solidFill>
                <a:latin typeface="Inconsolata Bold" pitchFamily="34" charset="0"/>
                <a:ea typeface="Inconsolata Bold" pitchFamily="34" charset="-122"/>
                <a:cs typeface="Inconsolata Bold" pitchFamily="34" charset="-120"/>
              </a:rPr>
              <a:t>Real-time Sensor Monitoring</a:t>
            </a:r>
            <a:endParaRPr lang="en-US" sz="1750" dirty="0"/>
          </a:p>
        </p:txBody>
      </p:sp>
      <p:sp>
        <p:nvSpPr>
          <p:cNvPr id="9" name="Text 4"/>
          <p:cNvSpPr/>
          <p:nvPr/>
        </p:nvSpPr>
        <p:spPr>
          <a:xfrm>
            <a:off x="916662" y="3282553"/>
            <a:ext cx="3877747" cy="1144429"/>
          </a:xfrm>
          <a:prstGeom prst="rect">
            <a:avLst/>
          </a:prstGeom>
          <a:noFill/>
          <a:ln/>
        </p:spPr>
        <p:txBody>
          <a:bodyPr wrap="squar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Continuous, precise monitoring of critical parameters: temperature, flow rate, pressure, and conductivity, ensuring optimal and safe operation.</a:t>
            </a:r>
            <a:endParaRPr lang="en-US" sz="1400" dirty="0"/>
          </a:p>
        </p:txBody>
      </p:sp>
      <p:sp>
        <p:nvSpPr>
          <p:cNvPr id="10" name="Shape 5"/>
          <p:cNvSpPr/>
          <p:nvPr/>
        </p:nvSpPr>
        <p:spPr>
          <a:xfrm>
            <a:off x="5174694" y="2449235"/>
            <a:ext cx="4280892" cy="2179320"/>
          </a:xfrm>
          <a:prstGeom prst="roundRect">
            <a:avLst>
              <a:gd name="adj" fmla="val 5035"/>
            </a:avLst>
          </a:prstGeom>
          <a:solidFill>
            <a:srgbClr val="241631"/>
          </a:solidFill>
          <a:ln/>
        </p:spPr>
        <p:txBody>
          <a:bodyPr/>
          <a:lstStyle/>
          <a:p>
            <a:endParaRPr lang="en-AE"/>
          </a:p>
        </p:txBody>
      </p:sp>
      <p:pic>
        <p:nvPicPr>
          <p:cNvPr id="11" name="Image 3" descr="preencoded.png"/>
          <p:cNvPicPr>
            <a:picLocks noChangeAspect="1"/>
          </p:cNvPicPr>
          <p:nvPr/>
        </p:nvPicPr>
        <p:blipFill>
          <a:blip r:embed="rId3"/>
          <a:stretch>
            <a:fillRect/>
          </a:stretch>
        </p:blipFill>
        <p:spPr>
          <a:xfrm>
            <a:off x="5174694" y="2426375"/>
            <a:ext cx="4280892" cy="91440"/>
          </a:xfrm>
          <a:prstGeom prst="rect">
            <a:avLst/>
          </a:prstGeom>
        </p:spPr>
      </p:pic>
      <p:pic>
        <p:nvPicPr>
          <p:cNvPr id="12" name="Image 4" descr="preencoded.png"/>
          <p:cNvPicPr>
            <a:picLocks noChangeAspect="1"/>
          </p:cNvPicPr>
          <p:nvPr/>
        </p:nvPicPr>
        <p:blipFill>
          <a:blip r:embed="rId4"/>
          <a:stretch>
            <a:fillRect/>
          </a:stretch>
        </p:blipFill>
        <p:spPr>
          <a:xfrm>
            <a:off x="7046952" y="2181106"/>
            <a:ext cx="536258" cy="536258"/>
          </a:xfrm>
          <a:prstGeom prst="rect">
            <a:avLst/>
          </a:prstGeom>
        </p:spPr>
      </p:pic>
      <p:pic>
        <p:nvPicPr>
          <p:cNvPr id="13" name="Image 5" descr="preencoded.png"/>
          <p:cNvPicPr>
            <a:picLocks noChangeAspect="1"/>
          </p:cNvPicPr>
          <p:nvPr/>
        </p:nvPicPr>
        <p:blipFill>
          <a:blip r:embed="rId6"/>
          <a:stretch>
            <a:fillRect/>
          </a:stretch>
        </p:blipFill>
        <p:spPr>
          <a:xfrm>
            <a:off x="7207806" y="2315170"/>
            <a:ext cx="214432" cy="268129"/>
          </a:xfrm>
          <a:prstGeom prst="rect">
            <a:avLst/>
          </a:prstGeom>
        </p:spPr>
      </p:pic>
      <p:sp>
        <p:nvSpPr>
          <p:cNvPr id="14" name="Text 6"/>
          <p:cNvSpPr/>
          <p:nvPr/>
        </p:nvSpPr>
        <p:spPr>
          <a:xfrm>
            <a:off x="5376267" y="2896076"/>
            <a:ext cx="2234684" cy="279321"/>
          </a:xfrm>
          <a:prstGeom prst="rect">
            <a:avLst/>
          </a:prstGeom>
          <a:noFill/>
          <a:ln/>
        </p:spPr>
        <p:txBody>
          <a:bodyPr wrap="none" lIns="0" tIns="0" rIns="0" bIns="0" rtlCol="0" anchor="t"/>
          <a:lstStyle/>
          <a:p>
            <a:pPr marL="0" indent="0" algn="l">
              <a:lnSpc>
                <a:spcPts val="2150"/>
              </a:lnSpc>
              <a:buNone/>
            </a:pPr>
            <a:r>
              <a:rPr lang="en-US" sz="1750" b="1" dirty="0">
                <a:solidFill>
                  <a:srgbClr val="DAD1E6"/>
                </a:solidFill>
                <a:latin typeface="Inconsolata Bold" pitchFamily="34" charset="0"/>
                <a:ea typeface="Inconsolata Bold" pitchFamily="34" charset="-122"/>
                <a:cs typeface="Inconsolata Bold" pitchFamily="34" charset="-120"/>
              </a:rPr>
              <a:t>ESP32-Based Control</a:t>
            </a:r>
            <a:endParaRPr lang="en-US" sz="1750" dirty="0"/>
          </a:p>
        </p:txBody>
      </p:sp>
      <p:sp>
        <p:nvSpPr>
          <p:cNvPr id="15" name="Text 7"/>
          <p:cNvSpPr/>
          <p:nvPr/>
        </p:nvSpPr>
        <p:spPr>
          <a:xfrm>
            <a:off x="5376267" y="3282553"/>
            <a:ext cx="3877747" cy="1144429"/>
          </a:xfrm>
          <a:prstGeom prst="rect">
            <a:avLst/>
          </a:prstGeom>
          <a:noFill/>
          <a:ln/>
        </p:spPr>
        <p:txBody>
          <a:bodyPr wrap="squar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Robust control unit powered by ESP32, integrating seamlessly with wireless connectivity for reliable data transmission and command execution.</a:t>
            </a:r>
            <a:endParaRPr lang="en-US" sz="1400" dirty="0"/>
          </a:p>
        </p:txBody>
      </p:sp>
      <p:sp>
        <p:nvSpPr>
          <p:cNvPr id="16" name="Shape 8"/>
          <p:cNvSpPr/>
          <p:nvPr/>
        </p:nvSpPr>
        <p:spPr>
          <a:xfrm>
            <a:off x="9634299" y="2449235"/>
            <a:ext cx="4280892" cy="2179320"/>
          </a:xfrm>
          <a:prstGeom prst="roundRect">
            <a:avLst>
              <a:gd name="adj" fmla="val 5035"/>
            </a:avLst>
          </a:prstGeom>
          <a:solidFill>
            <a:srgbClr val="241631"/>
          </a:solidFill>
          <a:ln/>
        </p:spPr>
        <p:txBody>
          <a:bodyPr/>
          <a:lstStyle/>
          <a:p>
            <a:endParaRPr lang="en-AE"/>
          </a:p>
        </p:txBody>
      </p:sp>
      <p:pic>
        <p:nvPicPr>
          <p:cNvPr id="17" name="Image 6" descr="preencoded.png"/>
          <p:cNvPicPr>
            <a:picLocks noChangeAspect="1"/>
          </p:cNvPicPr>
          <p:nvPr/>
        </p:nvPicPr>
        <p:blipFill>
          <a:blip r:embed="rId3"/>
          <a:stretch>
            <a:fillRect/>
          </a:stretch>
        </p:blipFill>
        <p:spPr>
          <a:xfrm>
            <a:off x="9634299" y="2426375"/>
            <a:ext cx="4280892" cy="91440"/>
          </a:xfrm>
          <a:prstGeom prst="rect">
            <a:avLst/>
          </a:prstGeom>
        </p:spPr>
      </p:pic>
      <p:pic>
        <p:nvPicPr>
          <p:cNvPr id="18" name="Image 7" descr="preencoded.png"/>
          <p:cNvPicPr>
            <a:picLocks noChangeAspect="1"/>
          </p:cNvPicPr>
          <p:nvPr/>
        </p:nvPicPr>
        <p:blipFill>
          <a:blip r:embed="rId4"/>
          <a:stretch>
            <a:fillRect/>
          </a:stretch>
        </p:blipFill>
        <p:spPr>
          <a:xfrm>
            <a:off x="11506557" y="2181106"/>
            <a:ext cx="536258" cy="536258"/>
          </a:xfrm>
          <a:prstGeom prst="rect">
            <a:avLst/>
          </a:prstGeom>
        </p:spPr>
      </p:pic>
      <p:pic>
        <p:nvPicPr>
          <p:cNvPr id="19" name="Image 8" descr="preencoded.png"/>
          <p:cNvPicPr>
            <a:picLocks noChangeAspect="1"/>
          </p:cNvPicPr>
          <p:nvPr/>
        </p:nvPicPr>
        <p:blipFill>
          <a:blip r:embed="rId7"/>
          <a:stretch>
            <a:fillRect/>
          </a:stretch>
        </p:blipFill>
        <p:spPr>
          <a:xfrm>
            <a:off x="11667411" y="2315170"/>
            <a:ext cx="214432" cy="268129"/>
          </a:xfrm>
          <a:prstGeom prst="rect">
            <a:avLst/>
          </a:prstGeom>
        </p:spPr>
      </p:pic>
      <p:sp>
        <p:nvSpPr>
          <p:cNvPr id="20" name="Text 9"/>
          <p:cNvSpPr/>
          <p:nvPr/>
        </p:nvSpPr>
        <p:spPr>
          <a:xfrm>
            <a:off x="9835872" y="2896076"/>
            <a:ext cx="2234684" cy="279321"/>
          </a:xfrm>
          <a:prstGeom prst="rect">
            <a:avLst/>
          </a:prstGeom>
          <a:noFill/>
          <a:ln/>
        </p:spPr>
        <p:txBody>
          <a:bodyPr wrap="none" lIns="0" tIns="0" rIns="0" bIns="0" rtlCol="0" anchor="t"/>
          <a:lstStyle/>
          <a:p>
            <a:pPr marL="0" indent="0" algn="l">
              <a:lnSpc>
                <a:spcPts val="2150"/>
              </a:lnSpc>
              <a:buNone/>
            </a:pPr>
            <a:r>
              <a:rPr lang="en-US" sz="1750" b="1" dirty="0">
                <a:solidFill>
                  <a:srgbClr val="DAD1E6"/>
                </a:solidFill>
                <a:latin typeface="Inconsolata Bold" pitchFamily="34" charset="0"/>
                <a:ea typeface="Inconsolata Bold" pitchFamily="34" charset="-122"/>
                <a:cs typeface="Inconsolata Bold" pitchFamily="34" charset="-120"/>
              </a:rPr>
              <a:t>Emergency Protocols</a:t>
            </a:r>
            <a:endParaRPr lang="en-US" sz="1750" dirty="0"/>
          </a:p>
        </p:txBody>
      </p:sp>
      <p:sp>
        <p:nvSpPr>
          <p:cNvPr id="21" name="Text 10"/>
          <p:cNvSpPr/>
          <p:nvPr/>
        </p:nvSpPr>
        <p:spPr>
          <a:xfrm>
            <a:off x="9835872" y="3282553"/>
            <a:ext cx="3877747" cy="858322"/>
          </a:xfrm>
          <a:prstGeom prst="rect">
            <a:avLst/>
          </a:prstGeom>
          <a:noFill/>
          <a:ln/>
        </p:spPr>
        <p:txBody>
          <a:bodyPr wrap="squar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Automated emergency shutdown, instant alerts, and intuitive visual indicators to warn caregivers and prevent dangerous situations.</a:t>
            </a:r>
            <a:endParaRPr lang="en-US" sz="1400" dirty="0"/>
          </a:p>
        </p:txBody>
      </p:sp>
      <p:sp>
        <p:nvSpPr>
          <p:cNvPr id="22" name="Shape 11"/>
          <p:cNvSpPr/>
          <p:nvPr/>
        </p:nvSpPr>
        <p:spPr>
          <a:xfrm>
            <a:off x="715089" y="5075396"/>
            <a:ext cx="6510695" cy="1893213"/>
          </a:xfrm>
          <a:prstGeom prst="roundRect">
            <a:avLst>
              <a:gd name="adj" fmla="val 5796"/>
            </a:avLst>
          </a:prstGeom>
          <a:solidFill>
            <a:srgbClr val="241631"/>
          </a:solidFill>
          <a:ln/>
        </p:spPr>
        <p:txBody>
          <a:bodyPr/>
          <a:lstStyle/>
          <a:p>
            <a:endParaRPr lang="en-AE"/>
          </a:p>
        </p:txBody>
      </p:sp>
      <p:pic>
        <p:nvPicPr>
          <p:cNvPr id="23" name="Image 9" descr="preencoded.png"/>
          <p:cNvPicPr>
            <a:picLocks noChangeAspect="1"/>
          </p:cNvPicPr>
          <p:nvPr/>
        </p:nvPicPr>
        <p:blipFill>
          <a:blip r:embed="rId8"/>
          <a:stretch>
            <a:fillRect/>
          </a:stretch>
        </p:blipFill>
        <p:spPr>
          <a:xfrm>
            <a:off x="715089" y="5052536"/>
            <a:ext cx="6510695" cy="91440"/>
          </a:xfrm>
          <a:prstGeom prst="rect">
            <a:avLst/>
          </a:prstGeom>
        </p:spPr>
      </p:pic>
      <p:pic>
        <p:nvPicPr>
          <p:cNvPr id="24" name="Image 10" descr="preencoded.png"/>
          <p:cNvPicPr>
            <a:picLocks noChangeAspect="1"/>
          </p:cNvPicPr>
          <p:nvPr/>
        </p:nvPicPr>
        <p:blipFill>
          <a:blip r:embed="rId4"/>
          <a:stretch>
            <a:fillRect/>
          </a:stretch>
        </p:blipFill>
        <p:spPr>
          <a:xfrm>
            <a:off x="3702248" y="4807268"/>
            <a:ext cx="536258" cy="536258"/>
          </a:xfrm>
          <a:prstGeom prst="rect">
            <a:avLst/>
          </a:prstGeom>
        </p:spPr>
      </p:pic>
      <p:pic>
        <p:nvPicPr>
          <p:cNvPr id="25" name="Image 11" descr="preencoded.png"/>
          <p:cNvPicPr>
            <a:picLocks noChangeAspect="1"/>
          </p:cNvPicPr>
          <p:nvPr/>
        </p:nvPicPr>
        <p:blipFill>
          <a:blip r:embed="rId9"/>
          <a:stretch>
            <a:fillRect/>
          </a:stretch>
        </p:blipFill>
        <p:spPr>
          <a:xfrm>
            <a:off x="3863102" y="4941332"/>
            <a:ext cx="214432" cy="268129"/>
          </a:xfrm>
          <a:prstGeom prst="rect">
            <a:avLst/>
          </a:prstGeom>
        </p:spPr>
      </p:pic>
      <p:sp>
        <p:nvSpPr>
          <p:cNvPr id="26" name="Text 12"/>
          <p:cNvSpPr/>
          <p:nvPr/>
        </p:nvSpPr>
        <p:spPr>
          <a:xfrm>
            <a:off x="916662" y="5522238"/>
            <a:ext cx="2680454" cy="279321"/>
          </a:xfrm>
          <a:prstGeom prst="rect">
            <a:avLst/>
          </a:prstGeom>
          <a:noFill/>
          <a:ln/>
        </p:spPr>
        <p:txBody>
          <a:bodyPr wrap="none" lIns="0" tIns="0" rIns="0" bIns="0" rtlCol="0" anchor="t"/>
          <a:lstStyle/>
          <a:p>
            <a:pPr marL="0" indent="0" algn="l">
              <a:lnSpc>
                <a:spcPts val="2150"/>
              </a:lnSpc>
              <a:buNone/>
            </a:pPr>
            <a:r>
              <a:rPr lang="en-US" sz="1750" b="1" dirty="0">
                <a:solidFill>
                  <a:srgbClr val="DAD1E6"/>
                </a:solidFill>
                <a:latin typeface="Inconsolata Bold" pitchFamily="34" charset="0"/>
                <a:ea typeface="Inconsolata Bold" pitchFamily="34" charset="-122"/>
                <a:cs typeface="Inconsolata Bold" pitchFamily="34" charset="-120"/>
              </a:rPr>
              <a:t>Responsive Web Dashboard</a:t>
            </a:r>
            <a:endParaRPr lang="en-US" sz="1750" dirty="0"/>
          </a:p>
        </p:txBody>
      </p:sp>
      <p:sp>
        <p:nvSpPr>
          <p:cNvPr id="27" name="Text 13"/>
          <p:cNvSpPr/>
          <p:nvPr/>
        </p:nvSpPr>
        <p:spPr>
          <a:xfrm>
            <a:off x="916662" y="5908715"/>
            <a:ext cx="6107549" cy="572214"/>
          </a:xfrm>
          <a:prstGeom prst="rect">
            <a:avLst/>
          </a:prstGeom>
          <a:noFill/>
          <a:ln/>
        </p:spPr>
        <p:txBody>
          <a:bodyPr wrap="squar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A modern, intuitive, and responsive web interface enabling remote control, real-time tracking, and historical data analysis from any device.</a:t>
            </a:r>
            <a:endParaRPr lang="en-US" sz="1400" dirty="0"/>
          </a:p>
        </p:txBody>
      </p:sp>
      <p:sp>
        <p:nvSpPr>
          <p:cNvPr id="28" name="Shape 14"/>
          <p:cNvSpPr/>
          <p:nvPr/>
        </p:nvSpPr>
        <p:spPr>
          <a:xfrm>
            <a:off x="7404497" y="5075396"/>
            <a:ext cx="6510695" cy="1893213"/>
          </a:xfrm>
          <a:prstGeom prst="roundRect">
            <a:avLst>
              <a:gd name="adj" fmla="val 5796"/>
            </a:avLst>
          </a:prstGeom>
          <a:solidFill>
            <a:srgbClr val="241631"/>
          </a:solidFill>
          <a:ln/>
        </p:spPr>
        <p:txBody>
          <a:bodyPr/>
          <a:lstStyle/>
          <a:p>
            <a:endParaRPr lang="en-AE"/>
          </a:p>
        </p:txBody>
      </p:sp>
      <p:pic>
        <p:nvPicPr>
          <p:cNvPr id="29" name="Image 12" descr="preencoded.png"/>
          <p:cNvPicPr>
            <a:picLocks noChangeAspect="1"/>
          </p:cNvPicPr>
          <p:nvPr/>
        </p:nvPicPr>
        <p:blipFill>
          <a:blip r:embed="rId8"/>
          <a:stretch>
            <a:fillRect/>
          </a:stretch>
        </p:blipFill>
        <p:spPr>
          <a:xfrm>
            <a:off x="7404497" y="5052536"/>
            <a:ext cx="6510695" cy="91440"/>
          </a:xfrm>
          <a:prstGeom prst="rect">
            <a:avLst/>
          </a:prstGeom>
        </p:spPr>
      </p:pic>
      <p:pic>
        <p:nvPicPr>
          <p:cNvPr id="30" name="Image 13" descr="preencoded.png"/>
          <p:cNvPicPr>
            <a:picLocks noChangeAspect="1"/>
          </p:cNvPicPr>
          <p:nvPr/>
        </p:nvPicPr>
        <p:blipFill>
          <a:blip r:embed="rId4"/>
          <a:stretch>
            <a:fillRect/>
          </a:stretch>
        </p:blipFill>
        <p:spPr>
          <a:xfrm>
            <a:off x="10391656" y="4807268"/>
            <a:ext cx="536258" cy="536258"/>
          </a:xfrm>
          <a:prstGeom prst="rect">
            <a:avLst/>
          </a:prstGeom>
        </p:spPr>
      </p:pic>
      <p:pic>
        <p:nvPicPr>
          <p:cNvPr id="31" name="Image 14" descr="preencoded.png"/>
          <p:cNvPicPr>
            <a:picLocks noChangeAspect="1"/>
          </p:cNvPicPr>
          <p:nvPr/>
        </p:nvPicPr>
        <p:blipFill>
          <a:blip r:embed="rId10"/>
          <a:stretch>
            <a:fillRect/>
          </a:stretch>
        </p:blipFill>
        <p:spPr>
          <a:xfrm>
            <a:off x="10552509" y="4941332"/>
            <a:ext cx="214432" cy="268129"/>
          </a:xfrm>
          <a:prstGeom prst="rect">
            <a:avLst/>
          </a:prstGeom>
        </p:spPr>
      </p:pic>
      <p:sp>
        <p:nvSpPr>
          <p:cNvPr id="32" name="Text 15"/>
          <p:cNvSpPr/>
          <p:nvPr/>
        </p:nvSpPr>
        <p:spPr>
          <a:xfrm>
            <a:off x="7606070" y="5522238"/>
            <a:ext cx="3015496" cy="279321"/>
          </a:xfrm>
          <a:prstGeom prst="rect">
            <a:avLst/>
          </a:prstGeom>
          <a:noFill/>
          <a:ln/>
        </p:spPr>
        <p:txBody>
          <a:bodyPr wrap="none" lIns="0" tIns="0" rIns="0" bIns="0" rtlCol="0" anchor="t"/>
          <a:lstStyle/>
          <a:p>
            <a:pPr marL="0" indent="0" algn="l">
              <a:lnSpc>
                <a:spcPts val="2150"/>
              </a:lnSpc>
              <a:buNone/>
            </a:pPr>
            <a:r>
              <a:rPr lang="en-US" sz="1750" b="1" dirty="0">
                <a:solidFill>
                  <a:srgbClr val="DAD1E6"/>
                </a:solidFill>
                <a:latin typeface="Inconsolata Bold" pitchFamily="34" charset="0"/>
                <a:ea typeface="Inconsolata Bold" pitchFamily="34" charset="-122"/>
                <a:cs typeface="Inconsolata Bold" pitchFamily="34" charset="-120"/>
              </a:rPr>
              <a:t>Integrated Safety Protocols</a:t>
            </a:r>
            <a:endParaRPr lang="en-US" sz="1750" dirty="0"/>
          </a:p>
        </p:txBody>
      </p:sp>
      <p:sp>
        <p:nvSpPr>
          <p:cNvPr id="33" name="Text 16"/>
          <p:cNvSpPr/>
          <p:nvPr/>
        </p:nvSpPr>
        <p:spPr>
          <a:xfrm>
            <a:off x="7606070" y="5908715"/>
            <a:ext cx="6107549" cy="858322"/>
          </a:xfrm>
          <a:prstGeom prst="rect">
            <a:avLst/>
          </a:prstGeom>
          <a:noFill/>
          <a:ln/>
        </p:spPr>
        <p:txBody>
          <a:bodyPr wrap="squar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Safety measures are not just software; they are embedded directly into both the hardware and software architecture, providing redundant layers of protection.</a:t>
            </a:r>
            <a:endParaRPr lang="en-US" sz="1400" dirty="0"/>
          </a:p>
        </p:txBody>
      </p:sp>
      <p:sp>
        <p:nvSpPr>
          <p:cNvPr id="34" name="Text 17"/>
          <p:cNvSpPr/>
          <p:nvPr/>
        </p:nvSpPr>
        <p:spPr>
          <a:xfrm>
            <a:off x="715089" y="7169706"/>
            <a:ext cx="13200221" cy="572214"/>
          </a:xfrm>
          <a:prstGeom prst="rect">
            <a:avLst/>
          </a:prstGeom>
          <a:noFill/>
          <a:ln/>
        </p:spPr>
        <p:txBody>
          <a:bodyPr wrap="squar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This isn’t merely a theoretical concept or a lab prototype; it’s a field-ready solution rigorously developed and tested to meet the urgent needs of our people in Jordan, designed for immediate deployment and tangible impact.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83669" y="539115"/>
            <a:ext cx="11753017" cy="612219"/>
          </a:xfrm>
          <a:prstGeom prst="rect">
            <a:avLst/>
          </a:prstGeom>
          <a:noFill/>
          <a:ln/>
        </p:spPr>
        <p:txBody>
          <a:bodyPr wrap="none" lIns="0" tIns="0" rIns="0" bIns="0" rtlCol="0" anchor="t"/>
          <a:lstStyle/>
          <a:p>
            <a:pPr marL="0" indent="0" algn="l">
              <a:lnSpc>
                <a:spcPts val="4800"/>
              </a:lnSpc>
              <a:buNone/>
            </a:pPr>
            <a:r>
              <a:rPr lang="en-US" sz="3850" b="1" dirty="0">
                <a:solidFill>
                  <a:srgbClr val="F94CAF"/>
                </a:solidFill>
                <a:latin typeface="Inconsolata Bold" pitchFamily="34" charset="0"/>
                <a:ea typeface="Inconsolata Bold" pitchFamily="34" charset="-122"/>
                <a:cs typeface="Inconsolata Bold" pitchFamily="34" charset="-120"/>
              </a:rPr>
              <a:t>Hardware System: The Brains Behind the Operation</a:t>
            </a:r>
            <a:endParaRPr lang="en-US" sz="3850" dirty="0"/>
          </a:p>
        </p:txBody>
      </p:sp>
      <p:sp>
        <p:nvSpPr>
          <p:cNvPr id="3" name="Text 1"/>
          <p:cNvSpPr/>
          <p:nvPr/>
        </p:nvSpPr>
        <p:spPr>
          <a:xfrm>
            <a:off x="783669" y="1543169"/>
            <a:ext cx="13063061" cy="940475"/>
          </a:xfrm>
          <a:prstGeom prst="rect">
            <a:avLst/>
          </a:prstGeom>
          <a:noFill/>
          <a:ln/>
        </p:spPr>
        <p:txBody>
          <a:bodyPr wrap="square" lIns="0" tIns="0" rIns="0" bIns="0" rtlCol="0" anchor="t"/>
          <a:lstStyle/>
          <a:p>
            <a:pPr marL="0" indent="0" algn="l">
              <a:lnSpc>
                <a:spcPts val="2450"/>
              </a:lnSpc>
              <a:buNone/>
            </a:pPr>
            <a:r>
              <a:rPr lang="en-US" sz="1500" dirty="0">
                <a:solidFill>
                  <a:srgbClr val="DAD1E6"/>
                </a:solidFill>
                <a:latin typeface="Fira Sans" pitchFamily="34" charset="0"/>
                <a:ea typeface="Fira Sans" pitchFamily="34" charset="-122"/>
                <a:cs typeface="Fira Sans" pitchFamily="34" charset="-120"/>
              </a:rPr>
              <a:t>At the core of our portable smart dialysis unit is a meticulously engineered hardware system. The central controller, leveraging the power and versatility of the </a:t>
            </a:r>
            <a:r>
              <a:rPr lang="en-US" sz="1500" b="1" dirty="0">
                <a:solidFill>
                  <a:srgbClr val="DAD1E6"/>
                </a:solidFill>
                <a:latin typeface="Fira Sans" pitchFamily="34" charset="0"/>
                <a:ea typeface="Fira Sans" pitchFamily="34" charset="-122"/>
                <a:cs typeface="Fira Sans" pitchFamily="34" charset="-120"/>
              </a:rPr>
              <a:t>ESP32 microcontroller</a:t>
            </a:r>
            <a:r>
              <a:rPr lang="en-US" sz="1500" dirty="0">
                <a:solidFill>
                  <a:srgbClr val="DAD1E6"/>
                </a:solidFill>
                <a:latin typeface="Fira Sans" pitchFamily="34" charset="0"/>
                <a:ea typeface="Fira Sans" pitchFamily="34" charset="-122"/>
                <a:cs typeface="Fira Sans" pitchFamily="34" charset="-120"/>
              </a:rPr>
              <a:t>, orchestrates a symphony of sensors and actuators to ensure precise, automated, and safe dialysis treatment. This integrated approach allows for robust performance even in challenging mobile medical environments.</a:t>
            </a:r>
            <a:endParaRPr lang="en-US" sz="1500" dirty="0"/>
          </a:p>
        </p:txBody>
      </p:sp>
      <p:sp>
        <p:nvSpPr>
          <p:cNvPr id="4" name="Text 2"/>
          <p:cNvSpPr/>
          <p:nvPr/>
        </p:nvSpPr>
        <p:spPr>
          <a:xfrm>
            <a:off x="783669" y="2880360"/>
            <a:ext cx="6292572" cy="940475"/>
          </a:xfrm>
          <a:prstGeom prst="rect">
            <a:avLst/>
          </a:prstGeom>
          <a:noFill/>
          <a:ln/>
        </p:spPr>
        <p:txBody>
          <a:bodyPr wrap="square" lIns="0" tIns="0" rIns="0" bIns="0" rtlCol="0" anchor="t"/>
          <a:lstStyle/>
          <a:p>
            <a:pPr marL="342900" indent="-342900" algn="l">
              <a:lnSpc>
                <a:spcPts val="2450"/>
              </a:lnSpc>
              <a:buSzPct val="100000"/>
              <a:buChar char="•"/>
            </a:pPr>
            <a:r>
              <a:rPr lang="en-US" sz="1500" b="1" dirty="0">
                <a:solidFill>
                  <a:srgbClr val="000000"/>
                </a:solidFill>
                <a:latin typeface="Fira Sans" pitchFamily="34" charset="0"/>
                <a:ea typeface="Fira Sans" pitchFamily="34" charset="-122"/>
                <a:cs typeface="Fira Sans" pitchFamily="34" charset="-120"/>
              </a:rPr>
              <a:t>🧪</a:t>
            </a:r>
            <a:r>
              <a:rPr lang="en-US" sz="1500" dirty="0">
                <a:solidFill>
                  <a:srgbClr val="DAD1E6"/>
                </a:solidFill>
                <a:latin typeface="Fira Sans" pitchFamily="34" charset="0"/>
                <a:ea typeface="Fira Sans" pitchFamily="34" charset="-122"/>
                <a:cs typeface="Fira Sans" pitchFamily="34" charset="-120"/>
              </a:rPr>
              <a:t> DS18B20 Temperature Sensor: Provides highly accurate real-time temperature readings of the dialysate fluid, crucial for preventing complications and ensuring patient comfort.</a:t>
            </a:r>
            <a:endParaRPr lang="en-US" sz="1500" dirty="0"/>
          </a:p>
        </p:txBody>
      </p:sp>
      <p:sp>
        <p:nvSpPr>
          <p:cNvPr id="5" name="Text 3"/>
          <p:cNvSpPr/>
          <p:nvPr/>
        </p:nvSpPr>
        <p:spPr>
          <a:xfrm>
            <a:off x="783669" y="3889296"/>
            <a:ext cx="6292572" cy="1567458"/>
          </a:xfrm>
          <a:prstGeom prst="rect">
            <a:avLst/>
          </a:prstGeom>
          <a:noFill/>
          <a:ln/>
        </p:spPr>
        <p:txBody>
          <a:bodyPr wrap="square" lIns="0" tIns="0" rIns="0" bIns="0" rtlCol="0" anchor="t"/>
          <a:lstStyle/>
          <a:p>
            <a:pPr marL="342900" indent="-342900" algn="l">
              <a:lnSpc>
                <a:spcPts val="2450"/>
              </a:lnSpc>
              <a:buSzPct val="100000"/>
              <a:buChar char="•"/>
            </a:pPr>
            <a:r>
              <a:rPr lang="en-US" sz="1500" b="1" dirty="0">
                <a:solidFill>
                  <a:srgbClr val="000000"/>
                </a:solidFill>
                <a:latin typeface="Fira Sans" pitchFamily="34" charset="0"/>
                <a:ea typeface="Fira Sans" pitchFamily="34" charset="-122"/>
                <a:cs typeface="Fira Sans" pitchFamily="34" charset="-120"/>
              </a:rPr>
              <a:t>💧</a:t>
            </a:r>
            <a:r>
              <a:rPr lang="en-US" sz="1500" dirty="0">
                <a:solidFill>
                  <a:srgbClr val="DAD1E6"/>
                </a:solidFill>
                <a:latin typeface="Fira Sans" pitchFamily="34" charset="0"/>
                <a:ea typeface="Fira Sans" pitchFamily="34" charset="-122"/>
                <a:cs typeface="Fira Sans" pitchFamily="34" charset="-120"/>
              </a:rPr>
              <a:t> Flow, Pressure, and Conductivity Sensors: A comprehensive suite of sensors continuously monitors the flow rate of the dialysis solution, internal system pressure, and the crucial conductivity of the dialysate. These parameters are vital for verifying the solution's integrity and the efficiency of waste removal.</a:t>
            </a:r>
            <a:endParaRPr lang="en-US" sz="1500" dirty="0"/>
          </a:p>
        </p:txBody>
      </p:sp>
      <p:sp>
        <p:nvSpPr>
          <p:cNvPr id="6" name="Text 4"/>
          <p:cNvSpPr/>
          <p:nvPr/>
        </p:nvSpPr>
        <p:spPr>
          <a:xfrm>
            <a:off x="783669" y="5525214"/>
            <a:ext cx="6292572" cy="1567458"/>
          </a:xfrm>
          <a:prstGeom prst="rect">
            <a:avLst/>
          </a:prstGeom>
          <a:noFill/>
          <a:ln/>
        </p:spPr>
        <p:txBody>
          <a:bodyPr wrap="square" lIns="0" tIns="0" rIns="0" bIns="0" rtlCol="0" anchor="t"/>
          <a:lstStyle/>
          <a:p>
            <a:pPr marL="342900" indent="-342900" algn="l">
              <a:lnSpc>
                <a:spcPts val="2450"/>
              </a:lnSpc>
              <a:buSzPct val="100000"/>
              <a:buChar char="•"/>
            </a:pPr>
            <a:r>
              <a:rPr lang="en-US" sz="1500" b="1" dirty="0">
                <a:solidFill>
                  <a:srgbClr val="000000"/>
                </a:solidFill>
                <a:latin typeface="Fira Sans" pitchFamily="34" charset="0"/>
                <a:ea typeface="Fira Sans" pitchFamily="34" charset="-122"/>
                <a:cs typeface="Fira Sans" pitchFamily="34" charset="-120"/>
              </a:rPr>
              <a:t>🔌</a:t>
            </a:r>
            <a:r>
              <a:rPr lang="en-US" sz="1500" dirty="0">
                <a:solidFill>
                  <a:srgbClr val="DAD1E6"/>
                </a:solidFill>
                <a:latin typeface="Fira Sans" pitchFamily="34" charset="0"/>
                <a:ea typeface="Fira Sans" pitchFamily="34" charset="-122"/>
                <a:cs typeface="Fira Sans" pitchFamily="34" charset="-120"/>
              </a:rPr>
              <a:t> 12V Pump, Solenoid Valves, Heater: These robust actuators precisely control the movement, mixing, and temperature of the dialysis fluid. The 12V pump ensures consistent flow, solenoid valves manage fluid pathways, and the heater maintains the optimal dialysate temperature.</a:t>
            </a:r>
            <a:endParaRPr lang="en-US" sz="1500" dirty="0"/>
          </a:p>
        </p:txBody>
      </p:sp>
      <p:sp>
        <p:nvSpPr>
          <p:cNvPr id="7" name="Text 5"/>
          <p:cNvSpPr/>
          <p:nvPr/>
        </p:nvSpPr>
        <p:spPr>
          <a:xfrm>
            <a:off x="7561778" y="2880360"/>
            <a:ext cx="6292572" cy="1567458"/>
          </a:xfrm>
          <a:prstGeom prst="rect">
            <a:avLst/>
          </a:prstGeom>
          <a:noFill/>
          <a:ln/>
        </p:spPr>
        <p:txBody>
          <a:bodyPr wrap="square" lIns="0" tIns="0" rIns="0" bIns="0" rtlCol="0" anchor="t"/>
          <a:lstStyle/>
          <a:p>
            <a:pPr marL="342900" indent="-342900" algn="l">
              <a:lnSpc>
                <a:spcPts val="2450"/>
              </a:lnSpc>
              <a:buSzPct val="100000"/>
              <a:buChar char="•"/>
            </a:pPr>
            <a:r>
              <a:rPr lang="en-US" sz="1500" b="1" dirty="0">
                <a:solidFill>
                  <a:srgbClr val="000000"/>
                </a:solidFill>
                <a:latin typeface="Fira Sans" pitchFamily="34" charset="0"/>
                <a:ea typeface="Fira Sans" pitchFamily="34" charset="-122"/>
                <a:cs typeface="Fira Sans" pitchFamily="34" charset="-120"/>
              </a:rPr>
              <a:t>📟</a:t>
            </a:r>
            <a:r>
              <a:rPr lang="en-US" sz="1500" dirty="0">
                <a:solidFill>
                  <a:srgbClr val="DAD1E6"/>
                </a:solidFill>
                <a:latin typeface="Fira Sans" pitchFamily="34" charset="0"/>
                <a:ea typeface="Fira Sans" pitchFamily="34" charset="-122"/>
                <a:cs typeface="Fira Sans" pitchFamily="34" charset="-120"/>
              </a:rPr>
              <a:t> LCD Display, Buzzer, Status LEDs: A multi-faceted user feedback system provides immediate visual and auditory alerts. The LCD display offers detailed system status at a glance, while the buzzer and bright red/green LEDs provide critical warnings or confirmation of safe operation.</a:t>
            </a:r>
            <a:endParaRPr lang="en-US" sz="1500" dirty="0"/>
          </a:p>
        </p:txBody>
      </p:sp>
      <p:sp>
        <p:nvSpPr>
          <p:cNvPr id="8" name="Text 6"/>
          <p:cNvSpPr/>
          <p:nvPr/>
        </p:nvSpPr>
        <p:spPr>
          <a:xfrm>
            <a:off x="7561778" y="4516279"/>
            <a:ext cx="6292572" cy="1253966"/>
          </a:xfrm>
          <a:prstGeom prst="rect">
            <a:avLst/>
          </a:prstGeom>
          <a:noFill/>
          <a:ln/>
        </p:spPr>
        <p:txBody>
          <a:bodyPr wrap="square" lIns="0" tIns="0" rIns="0" bIns="0" rtlCol="0" anchor="t"/>
          <a:lstStyle/>
          <a:p>
            <a:pPr marL="342900" indent="-342900" algn="l">
              <a:lnSpc>
                <a:spcPts val="2450"/>
              </a:lnSpc>
              <a:buSzPct val="100000"/>
              <a:buChar char="•"/>
            </a:pPr>
            <a:r>
              <a:rPr lang="en-US" sz="1500" b="1" dirty="0">
                <a:solidFill>
                  <a:srgbClr val="000000"/>
                </a:solidFill>
                <a:latin typeface="Fira Sans" pitchFamily="34" charset="0"/>
                <a:ea typeface="Fira Sans" pitchFamily="34" charset="-122"/>
                <a:cs typeface="Fira Sans" pitchFamily="34" charset="-120"/>
              </a:rPr>
              <a:t>🛑</a:t>
            </a:r>
            <a:r>
              <a:rPr lang="en-US" sz="1500" dirty="0">
                <a:solidFill>
                  <a:srgbClr val="DAD1E6"/>
                </a:solidFill>
                <a:latin typeface="Fira Sans" pitchFamily="34" charset="0"/>
                <a:ea typeface="Fira Sans" pitchFamily="34" charset="-122"/>
                <a:cs typeface="Fira Sans" pitchFamily="34" charset="-120"/>
              </a:rPr>
              <a:t> Emergency Stop System: A dedicated, failsafe emergency stop mechanism is integrated into the hardware, allowing for instant cessation of all operations in case of a critical anomaly or manual intervention, prioritizing patient safety above all else.</a:t>
            </a:r>
            <a:endParaRPr lang="en-US" sz="1500" dirty="0"/>
          </a:p>
        </p:txBody>
      </p:sp>
      <p:sp>
        <p:nvSpPr>
          <p:cNvPr id="9" name="Text 7"/>
          <p:cNvSpPr/>
          <p:nvPr/>
        </p:nvSpPr>
        <p:spPr>
          <a:xfrm>
            <a:off x="7561778" y="5946577"/>
            <a:ext cx="6292572" cy="1567458"/>
          </a:xfrm>
          <a:prstGeom prst="rect">
            <a:avLst/>
          </a:prstGeom>
          <a:noFill/>
          <a:ln/>
        </p:spPr>
        <p:txBody>
          <a:bodyPr wrap="square" lIns="0" tIns="0" rIns="0" bIns="0" rtlCol="0" anchor="t"/>
          <a:lstStyle/>
          <a:p>
            <a:pPr marL="0" indent="0" algn="l">
              <a:lnSpc>
                <a:spcPts val="2450"/>
              </a:lnSpc>
              <a:buNone/>
            </a:pPr>
            <a:r>
              <a:rPr lang="en-US" sz="1500" dirty="0">
                <a:solidFill>
                  <a:srgbClr val="DAD1E6"/>
                </a:solidFill>
                <a:latin typeface="Fira Sans" pitchFamily="34" charset="0"/>
                <a:ea typeface="Fira Sans" pitchFamily="34" charset="-122"/>
                <a:cs typeface="Fira Sans" pitchFamily="34" charset="-120"/>
              </a:rPr>
              <a:t>All these components work in seamless conjunction, creating a cohesive unit that automates, monitors, and protects the patient in real-time. This sophisticated hardware ensures that even in remote or challenging settings, dialysis treatment remains consistent, effective, and most importantly, safe.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71870" y="463748"/>
            <a:ext cx="8608695" cy="524828"/>
          </a:xfrm>
          <a:prstGeom prst="rect">
            <a:avLst/>
          </a:prstGeom>
          <a:noFill/>
          <a:ln/>
        </p:spPr>
        <p:txBody>
          <a:bodyPr wrap="none" lIns="0" tIns="0" rIns="0" bIns="0" rtlCol="0" anchor="t"/>
          <a:lstStyle/>
          <a:p>
            <a:pPr marL="0" indent="0" algn="l">
              <a:lnSpc>
                <a:spcPts val="4100"/>
              </a:lnSpc>
              <a:buNone/>
            </a:pPr>
            <a:r>
              <a:rPr lang="en-US" sz="3300" b="1" dirty="0">
                <a:solidFill>
                  <a:srgbClr val="F94CAF"/>
                </a:solidFill>
                <a:latin typeface="Inconsolata Bold" pitchFamily="34" charset="0"/>
                <a:ea typeface="Inconsolata Bold" pitchFamily="34" charset="-122"/>
                <a:cs typeface="Inconsolata Bold" pitchFamily="34" charset="-120"/>
              </a:rPr>
              <a:t>Web Dashboard: Your Remote Command Center</a:t>
            </a:r>
            <a:endParaRPr lang="en-US" sz="3300" dirty="0"/>
          </a:p>
        </p:txBody>
      </p:sp>
      <p:sp>
        <p:nvSpPr>
          <p:cNvPr id="3" name="Text 1"/>
          <p:cNvSpPr/>
          <p:nvPr/>
        </p:nvSpPr>
        <p:spPr>
          <a:xfrm>
            <a:off x="671870" y="1324451"/>
            <a:ext cx="13286661" cy="537448"/>
          </a:xfrm>
          <a:prstGeom prst="rect">
            <a:avLst/>
          </a:prstGeom>
          <a:noFill/>
          <a:ln/>
        </p:spPr>
        <p:txBody>
          <a:bodyPr wrap="square" lIns="0" tIns="0" rIns="0" bIns="0" rtlCol="0" anchor="t"/>
          <a:lstStyle/>
          <a:p>
            <a:pPr marL="0" indent="0" algn="l">
              <a:lnSpc>
                <a:spcPts val="2100"/>
              </a:lnSpc>
              <a:buNone/>
            </a:pPr>
            <a:r>
              <a:rPr lang="en-US" sz="1300" dirty="0">
                <a:solidFill>
                  <a:srgbClr val="DAD1E6"/>
                </a:solidFill>
                <a:latin typeface="Fira Sans" pitchFamily="34" charset="0"/>
                <a:ea typeface="Fira Sans" pitchFamily="34" charset="-122"/>
                <a:cs typeface="Fira Sans" pitchFamily="34" charset="-120"/>
              </a:rPr>
              <a:t>Our innovative web interface is meticulously designed with a striking </a:t>
            </a:r>
            <a:r>
              <a:rPr lang="en-US" sz="1300" b="1" dirty="0">
                <a:solidFill>
                  <a:srgbClr val="DAD1E6"/>
                </a:solidFill>
                <a:latin typeface="Fira Sans" pitchFamily="34" charset="0"/>
                <a:ea typeface="Fira Sans" pitchFamily="34" charset="-122"/>
                <a:cs typeface="Fira Sans" pitchFamily="34" charset="-120"/>
              </a:rPr>
              <a:t>glassmorphism UI</a:t>
            </a:r>
            <a:r>
              <a:rPr lang="en-US" sz="1300" dirty="0">
                <a:solidFill>
                  <a:srgbClr val="DAD1E6"/>
                </a:solidFill>
                <a:latin typeface="Fira Sans" pitchFamily="34" charset="0"/>
                <a:ea typeface="Fira Sans" pitchFamily="34" charset="-122"/>
                <a:cs typeface="Fira Sans" pitchFamily="34" charset="-120"/>
              </a:rPr>
              <a:t>, providing a clean, modern, and intuitive experience for healthcare professionals. This dashboard transforms any internet-connected device into a powerful remote command center for monitoring and controlling the portable smart dialysis unit.</a:t>
            </a:r>
            <a:endParaRPr lang="en-US" sz="1300" dirty="0"/>
          </a:p>
        </p:txBody>
      </p:sp>
      <p:sp>
        <p:nvSpPr>
          <p:cNvPr id="4" name="Shape 2"/>
          <p:cNvSpPr/>
          <p:nvPr/>
        </p:nvSpPr>
        <p:spPr>
          <a:xfrm>
            <a:off x="671870" y="2050852"/>
            <a:ext cx="6559391" cy="1550908"/>
          </a:xfrm>
          <a:prstGeom prst="roundRect">
            <a:avLst>
              <a:gd name="adj" fmla="val 1625"/>
            </a:avLst>
          </a:prstGeom>
          <a:solidFill>
            <a:srgbClr val="241631"/>
          </a:solidFill>
          <a:ln w="22860">
            <a:solidFill>
              <a:srgbClr val="5C4E69"/>
            </a:solidFill>
            <a:prstDash val="solid"/>
          </a:ln>
        </p:spPr>
        <p:txBody>
          <a:bodyPr/>
          <a:lstStyle/>
          <a:p>
            <a:endParaRPr lang="en-AE"/>
          </a:p>
        </p:txBody>
      </p:sp>
      <p:sp>
        <p:nvSpPr>
          <p:cNvPr id="5" name="Text 3"/>
          <p:cNvSpPr/>
          <p:nvPr/>
        </p:nvSpPr>
        <p:spPr>
          <a:xfrm>
            <a:off x="862608" y="2241590"/>
            <a:ext cx="2938701" cy="262533"/>
          </a:xfrm>
          <a:prstGeom prst="rect">
            <a:avLst/>
          </a:prstGeom>
          <a:noFill/>
          <a:ln/>
        </p:spPr>
        <p:txBody>
          <a:bodyPr wrap="none" lIns="0" tIns="0" rIns="0" bIns="0" rtlCol="0" anchor="t"/>
          <a:lstStyle/>
          <a:p>
            <a:pPr marL="0" indent="0" algn="l">
              <a:lnSpc>
                <a:spcPts val="2050"/>
              </a:lnSpc>
              <a:buNone/>
            </a:pPr>
            <a:r>
              <a:rPr lang="en-US" sz="1650" b="1" dirty="0">
                <a:solidFill>
                  <a:srgbClr val="DAD1E6"/>
                </a:solidFill>
                <a:latin typeface="Inconsolata Bold" pitchFamily="34" charset="0"/>
                <a:ea typeface="Inconsolata Bold" pitchFamily="34" charset="-122"/>
                <a:cs typeface="Inconsolata Bold" pitchFamily="34" charset="-120"/>
              </a:rPr>
              <a:t>Circular Progress Indicators</a:t>
            </a:r>
            <a:endParaRPr lang="en-US" sz="1650" dirty="0"/>
          </a:p>
        </p:txBody>
      </p:sp>
      <p:sp>
        <p:nvSpPr>
          <p:cNvPr id="6" name="Text 4"/>
          <p:cNvSpPr/>
          <p:nvPr/>
        </p:nvSpPr>
        <p:spPr>
          <a:xfrm>
            <a:off x="862608" y="2604849"/>
            <a:ext cx="6177915" cy="806172"/>
          </a:xfrm>
          <a:prstGeom prst="rect">
            <a:avLst/>
          </a:prstGeom>
          <a:noFill/>
          <a:ln/>
        </p:spPr>
        <p:txBody>
          <a:bodyPr wrap="square" lIns="0" tIns="0" rIns="0" bIns="0" rtlCol="0" anchor="t"/>
          <a:lstStyle/>
          <a:p>
            <a:pPr marL="0" indent="0" algn="l">
              <a:lnSpc>
                <a:spcPts val="2100"/>
              </a:lnSpc>
              <a:buNone/>
            </a:pPr>
            <a:r>
              <a:rPr lang="en-US" sz="1300" dirty="0">
                <a:solidFill>
                  <a:srgbClr val="DAD1E6"/>
                </a:solidFill>
                <a:latin typeface="Fira Sans" pitchFamily="34" charset="0"/>
                <a:ea typeface="Fira Sans" pitchFamily="34" charset="-122"/>
                <a:cs typeface="Fira Sans" pitchFamily="34" charset="-120"/>
              </a:rPr>
              <a:t>Each vital sensor reading (temperature, flow, pressure, conductivity) is displayed with an easy-to-read circular progress indicator, offering immediate visual feedback on system parameters.</a:t>
            </a:r>
            <a:endParaRPr lang="en-US" sz="1300" dirty="0"/>
          </a:p>
        </p:txBody>
      </p:sp>
      <p:sp>
        <p:nvSpPr>
          <p:cNvPr id="7" name="Shape 5"/>
          <p:cNvSpPr/>
          <p:nvPr/>
        </p:nvSpPr>
        <p:spPr>
          <a:xfrm>
            <a:off x="7399139" y="2050852"/>
            <a:ext cx="6559391" cy="1550908"/>
          </a:xfrm>
          <a:prstGeom prst="roundRect">
            <a:avLst>
              <a:gd name="adj" fmla="val 1625"/>
            </a:avLst>
          </a:prstGeom>
          <a:solidFill>
            <a:srgbClr val="241631"/>
          </a:solidFill>
          <a:ln w="22860">
            <a:solidFill>
              <a:srgbClr val="5C4E69"/>
            </a:solidFill>
            <a:prstDash val="solid"/>
          </a:ln>
        </p:spPr>
        <p:txBody>
          <a:bodyPr/>
          <a:lstStyle/>
          <a:p>
            <a:endParaRPr lang="en-AE"/>
          </a:p>
        </p:txBody>
      </p:sp>
      <p:sp>
        <p:nvSpPr>
          <p:cNvPr id="8" name="Text 6"/>
          <p:cNvSpPr/>
          <p:nvPr/>
        </p:nvSpPr>
        <p:spPr>
          <a:xfrm>
            <a:off x="7589877" y="2241590"/>
            <a:ext cx="2623899" cy="262533"/>
          </a:xfrm>
          <a:prstGeom prst="rect">
            <a:avLst/>
          </a:prstGeom>
          <a:noFill/>
          <a:ln/>
        </p:spPr>
        <p:txBody>
          <a:bodyPr wrap="none" lIns="0" tIns="0" rIns="0" bIns="0" rtlCol="0" anchor="t"/>
          <a:lstStyle/>
          <a:p>
            <a:pPr marL="0" indent="0" algn="l">
              <a:lnSpc>
                <a:spcPts val="2050"/>
              </a:lnSpc>
              <a:buNone/>
            </a:pPr>
            <a:r>
              <a:rPr lang="en-US" sz="1650" b="1" dirty="0">
                <a:solidFill>
                  <a:srgbClr val="DAD1E6"/>
                </a:solidFill>
                <a:latin typeface="Inconsolata Bold" pitchFamily="34" charset="0"/>
                <a:ea typeface="Inconsolata Bold" pitchFamily="34" charset="-122"/>
                <a:cs typeface="Inconsolata Bold" pitchFamily="34" charset="-120"/>
              </a:rPr>
              <a:t>Color-Coded Status Badges</a:t>
            </a:r>
            <a:endParaRPr lang="en-US" sz="1650" dirty="0"/>
          </a:p>
        </p:txBody>
      </p:sp>
      <p:sp>
        <p:nvSpPr>
          <p:cNvPr id="9" name="Text 7"/>
          <p:cNvSpPr/>
          <p:nvPr/>
        </p:nvSpPr>
        <p:spPr>
          <a:xfrm>
            <a:off x="7589877" y="2604849"/>
            <a:ext cx="6177915" cy="806172"/>
          </a:xfrm>
          <a:prstGeom prst="rect">
            <a:avLst/>
          </a:prstGeom>
          <a:noFill/>
          <a:ln/>
        </p:spPr>
        <p:txBody>
          <a:bodyPr wrap="square" lIns="0" tIns="0" rIns="0" bIns="0" rtlCol="0" anchor="t"/>
          <a:lstStyle/>
          <a:p>
            <a:pPr marL="0" indent="0" algn="l">
              <a:lnSpc>
                <a:spcPts val="2100"/>
              </a:lnSpc>
              <a:buNone/>
            </a:pPr>
            <a:r>
              <a:rPr lang="en-US" sz="1300" dirty="0">
                <a:solidFill>
                  <a:srgbClr val="DAD1E6"/>
                </a:solidFill>
                <a:latin typeface="Fira Sans" pitchFamily="34" charset="0"/>
                <a:ea typeface="Fira Sans" pitchFamily="34" charset="-122"/>
                <a:cs typeface="Fira Sans" pitchFamily="34" charset="-120"/>
              </a:rPr>
              <a:t>System status and alerts are communicated clearly through an intuitive color-coding system, allowing medical personnel to quickly discern normal operation from potential issues.</a:t>
            </a:r>
            <a:endParaRPr lang="en-US" sz="1300" dirty="0"/>
          </a:p>
        </p:txBody>
      </p:sp>
      <p:sp>
        <p:nvSpPr>
          <p:cNvPr id="10" name="Shape 8"/>
          <p:cNvSpPr/>
          <p:nvPr/>
        </p:nvSpPr>
        <p:spPr>
          <a:xfrm>
            <a:off x="671870" y="3769638"/>
            <a:ext cx="6559391" cy="1550908"/>
          </a:xfrm>
          <a:prstGeom prst="roundRect">
            <a:avLst>
              <a:gd name="adj" fmla="val 1625"/>
            </a:avLst>
          </a:prstGeom>
          <a:solidFill>
            <a:srgbClr val="241631"/>
          </a:solidFill>
          <a:ln w="22860">
            <a:solidFill>
              <a:srgbClr val="5C4E69"/>
            </a:solidFill>
            <a:prstDash val="solid"/>
          </a:ln>
        </p:spPr>
        <p:txBody>
          <a:bodyPr/>
          <a:lstStyle/>
          <a:p>
            <a:endParaRPr lang="en-AE"/>
          </a:p>
        </p:txBody>
      </p:sp>
      <p:sp>
        <p:nvSpPr>
          <p:cNvPr id="11" name="Text 9"/>
          <p:cNvSpPr/>
          <p:nvPr/>
        </p:nvSpPr>
        <p:spPr>
          <a:xfrm>
            <a:off x="862608" y="3960376"/>
            <a:ext cx="2728793" cy="262533"/>
          </a:xfrm>
          <a:prstGeom prst="rect">
            <a:avLst/>
          </a:prstGeom>
          <a:noFill/>
          <a:ln/>
        </p:spPr>
        <p:txBody>
          <a:bodyPr wrap="none" lIns="0" tIns="0" rIns="0" bIns="0" rtlCol="0" anchor="t"/>
          <a:lstStyle/>
          <a:p>
            <a:pPr marL="0" indent="0" algn="l">
              <a:lnSpc>
                <a:spcPts val="2050"/>
              </a:lnSpc>
              <a:buNone/>
            </a:pPr>
            <a:r>
              <a:rPr lang="en-US" sz="1650" b="1" dirty="0">
                <a:solidFill>
                  <a:srgbClr val="DAD1E6"/>
                </a:solidFill>
                <a:latin typeface="Inconsolata Bold" pitchFamily="34" charset="0"/>
                <a:ea typeface="Inconsolata Bold" pitchFamily="34" charset="-122"/>
                <a:cs typeface="Inconsolata Bold" pitchFamily="34" charset="-120"/>
              </a:rPr>
              <a:t>Emergency Alerts &amp; Buzzers</a:t>
            </a:r>
            <a:endParaRPr lang="en-US" sz="1650" dirty="0"/>
          </a:p>
        </p:txBody>
      </p:sp>
      <p:sp>
        <p:nvSpPr>
          <p:cNvPr id="12" name="Text 10"/>
          <p:cNvSpPr/>
          <p:nvPr/>
        </p:nvSpPr>
        <p:spPr>
          <a:xfrm>
            <a:off x="862608" y="4323636"/>
            <a:ext cx="6177915" cy="806172"/>
          </a:xfrm>
          <a:prstGeom prst="rect">
            <a:avLst/>
          </a:prstGeom>
          <a:noFill/>
          <a:ln/>
        </p:spPr>
        <p:txBody>
          <a:bodyPr wrap="square" lIns="0" tIns="0" rIns="0" bIns="0" rtlCol="0" anchor="t"/>
          <a:lstStyle/>
          <a:p>
            <a:pPr marL="0" indent="0" algn="l">
              <a:lnSpc>
                <a:spcPts val="2100"/>
              </a:lnSpc>
              <a:buNone/>
            </a:pPr>
            <a:r>
              <a:rPr lang="en-US" sz="1300" dirty="0">
                <a:solidFill>
                  <a:srgbClr val="DAD1E6"/>
                </a:solidFill>
                <a:latin typeface="Fira Sans" pitchFamily="34" charset="0"/>
                <a:ea typeface="Fira Sans" pitchFamily="34" charset="-122"/>
                <a:cs typeface="Fira Sans" pitchFamily="34" charset="-120"/>
              </a:rPr>
              <a:t>Critical alerts are prominently displayed on the dashboard, accompanied by an audible buzzer that can be remotely activated, ensuring no urgent situation goes unnoticed.</a:t>
            </a:r>
            <a:endParaRPr lang="en-US" sz="1300" dirty="0"/>
          </a:p>
        </p:txBody>
      </p:sp>
      <p:sp>
        <p:nvSpPr>
          <p:cNvPr id="13" name="Shape 11"/>
          <p:cNvSpPr/>
          <p:nvPr/>
        </p:nvSpPr>
        <p:spPr>
          <a:xfrm>
            <a:off x="7399139" y="3769638"/>
            <a:ext cx="6559391" cy="1550908"/>
          </a:xfrm>
          <a:prstGeom prst="roundRect">
            <a:avLst>
              <a:gd name="adj" fmla="val 1625"/>
            </a:avLst>
          </a:prstGeom>
          <a:solidFill>
            <a:srgbClr val="241631"/>
          </a:solidFill>
          <a:ln w="22860">
            <a:solidFill>
              <a:srgbClr val="5C4E69"/>
            </a:solidFill>
            <a:prstDash val="solid"/>
          </a:ln>
        </p:spPr>
        <p:txBody>
          <a:bodyPr/>
          <a:lstStyle/>
          <a:p>
            <a:endParaRPr lang="en-AE"/>
          </a:p>
        </p:txBody>
      </p:sp>
      <p:sp>
        <p:nvSpPr>
          <p:cNvPr id="14" name="Text 12"/>
          <p:cNvSpPr/>
          <p:nvPr/>
        </p:nvSpPr>
        <p:spPr>
          <a:xfrm>
            <a:off x="7589877" y="3960376"/>
            <a:ext cx="2413992" cy="262533"/>
          </a:xfrm>
          <a:prstGeom prst="rect">
            <a:avLst/>
          </a:prstGeom>
          <a:noFill/>
          <a:ln/>
        </p:spPr>
        <p:txBody>
          <a:bodyPr wrap="none" lIns="0" tIns="0" rIns="0" bIns="0" rtlCol="0" anchor="t"/>
          <a:lstStyle/>
          <a:p>
            <a:pPr marL="0" indent="0" algn="l">
              <a:lnSpc>
                <a:spcPts val="2050"/>
              </a:lnSpc>
              <a:buNone/>
            </a:pPr>
            <a:r>
              <a:rPr lang="en-US" sz="1650" b="1" dirty="0">
                <a:solidFill>
                  <a:srgbClr val="DAD1E6"/>
                </a:solidFill>
                <a:latin typeface="Inconsolata Bold" pitchFamily="34" charset="0"/>
                <a:ea typeface="Inconsolata Bold" pitchFamily="34" charset="-122"/>
                <a:cs typeface="Inconsolata Bold" pitchFamily="34" charset="-120"/>
              </a:rPr>
              <a:t>WiFi-Based Connectivity</a:t>
            </a:r>
            <a:endParaRPr lang="en-US" sz="1650" dirty="0"/>
          </a:p>
        </p:txBody>
      </p:sp>
      <p:sp>
        <p:nvSpPr>
          <p:cNvPr id="15" name="Text 13"/>
          <p:cNvSpPr/>
          <p:nvPr/>
        </p:nvSpPr>
        <p:spPr>
          <a:xfrm>
            <a:off x="7589877" y="4323636"/>
            <a:ext cx="6177915" cy="806172"/>
          </a:xfrm>
          <a:prstGeom prst="rect">
            <a:avLst/>
          </a:prstGeom>
          <a:noFill/>
          <a:ln/>
        </p:spPr>
        <p:txBody>
          <a:bodyPr wrap="square" lIns="0" tIns="0" rIns="0" bIns="0" rtlCol="0" anchor="t"/>
          <a:lstStyle/>
          <a:p>
            <a:pPr marL="0" indent="0" algn="l">
              <a:lnSpc>
                <a:spcPts val="2100"/>
              </a:lnSpc>
              <a:buNone/>
            </a:pPr>
            <a:r>
              <a:rPr lang="en-US" sz="1300" dirty="0">
                <a:solidFill>
                  <a:srgbClr val="DAD1E6"/>
                </a:solidFill>
                <a:latin typeface="Fira Sans" pitchFamily="34" charset="0"/>
                <a:ea typeface="Fira Sans" pitchFamily="34" charset="-122"/>
                <a:cs typeface="Fira Sans" pitchFamily="34" charset="-120"/>
              </a:rPr>
              <a:t>Seamless and reliable communication with the ESP32 hardware is established via secure WiFi, enabling real-time data exchange and remote command execution from virtually anywhere.</a:t>
            </a:r>
            <a:endParaRPr lang="en-US" sz="1300" dirty="0"/>
          </a:p>
        </p:txBody>
      </p:sp>
      <p:sp>
        <p:nvSpPr>
          <p:cNvPr id="16" name="Shape 14"/>
          <p:cNvSpPr/>
          <p:nvPr/>
        </p:nvSpPr>
        <p:spPr>
          <a:xfrm>
            <a:off x="671870" y="5488424"/>
            <a:ext cx="6559391" cy="1550908"/>
          </a:xfrm>
          <a:prstGeom prst="roundRect">
            <a:avLst>
              <a:gd name="adj" fmla="val 1625"/>
            </a:avLst>
          </a:prstGeom>
          <a:solidFill>
            <a:srgbClr val="241631"/>
          </a:solidFill>
          <a:ln w="22860">
            <a:solidFill>
              <a:srgbClr val="5C4E69"/>
            </a:solidFill>
            <a:prstDash val="solid"/>
          </a:ln>
        </p:spPr>
        <p:txBody>
          <a:bodyPr/>
          <a:lstStyle/>
          <a:p>
            <a:endParaRPr lang="en-AE"/>
          </a:p>
        </p:txBody>
      </p:sp>
      <p:sp>
        <p:nvSpPr>
          <p:cNvPr id="17" name="Text 15"/>
          <p:cNvSpPr/>
          <p:nvPr/>
        </p:nvSpPr>
        <p:spPr>
          <a:xfrm>
            <a:off x="862608" y="5679162"/>
            <a:ext cx="2623899" cy="262533"/>
          </a:xfrm>
          <a:prstGeom prst="rect">
            <a:avLst/>
          </a:prstGeom>
          <a:noFill/>
          <a:ln/>
        </p:spPr>
        <p:txBody>
          <a:bodyPr wrap="none" lIns="0" tIns="0" rIns="0" bIns="0" rtlCol="0" anchor="t"/>
          <a:lstStyle/>
          <a:p>
            <a:pPr marL="0" indent="0" algn="l">
              <a:lnSpc>
                <a:spcPts val="2050"/>
              </a:lnSpc>
              <a:buNone/>
            </a:pPr>
            <a:r>
              <a:rPr lang="en-US" sz="1650" b="1" dirty="0">
                <a:solidFill>
                  <a:srgbClr val="DAD1E6"/>
                </a:solidFill>
                <a:latin typeface="Inconsolata Bold" pitchFamily="34" charset="0"/>
                <a:ea typeface="Inconsolata Bold" pitchFamily="34" charset="-122"/>
                <a:cs typeface="Inconsolata Bold" pitchFamily="34" charset="-120"/>
              </a:rPr>
              <a:t>Remote Start/Stop Control</a:t>
            </a:r>
            <a:endParaRPr lang="en-US" sz="1650" dirty="0"/>
          </a:p>
        </p:txBody>
      </p:sp>
      <p:sp>
        <p:nvSpPr>
          <p:cNvPr id="18" name="Text 16"/>
          <p:cNvSpPr/>
          <p:nvPr/>
        </p:nvSpPr>
        <p:spPr>
          <a:xfrm>
            <a:off x="862608" y="6042422"/>
            <a:ext cx="6177915" cy="806172"/>
          </a:xfrm>
          <a:prstGeom prst="rect">
            <a:avLst/>
          </a:prstGeom>
          <a:noFill/>
          <a:ln/>
        </p:spPr>
        <p:txBody>
          <a:bodyPr wrap="square" lIns="0" tIns="0" rIns="0" bIns="0" rtlCol="0" anchor="t"/>
          <a:lstStyle/>
          <a:p>
            <a:pPr marL="0" indent="0" algn="l">
              <a:lnSpc>
                <a:spcPts val="2100"/>
              </a:lnSpc>
              <a:buNone/>
            </a:pPr>
            <a:r>
              <a:rPr lang="en-US" sz="1300" dirty="0">
                <a:solidFill>
                  <a:srgbClr val="DAD1E6"/>
                </a:solidFill>
                <a:latin typeface="Fira Sans" pitchFamily="34" charset="0"/>
                <a:ea typeface="Fira Sans" pitchFamily="34" charset="-122"/>
                <a:cs typeface="Fira Sans" pitchFamily="34" charset="-120"/>
              </a:rPr>
              <a:t>Healthcare providers can remotely initiate or halt the dialysis process with a single click, offering unparalleled flexibility and control, especially when managing multiple units or supervising from a distance.</a:t>
            </a:r>
            <a:endParaRPr lang="en-US" sz="1300" dirty="0"/>
          </a:p>
        </p:txBody>
      </p:sp>
      <p:sp>
        <p:nvSpPr>
          <p:cNvPr id="19" name="Shape 17"/>
          <p:cNvSpPr/>
          <p:nvPr/>
        </p:nvSpPr>
        <p:spPr>
          <a:xfrm>
            <a:off x="7399139" y="5488424"/>
            <a:ext cx="6559391" cy="1550908"/>
          </a:xfrm>
          <a:prstGeom prst="roundRect">
            <a:avLst>
              <a:gd name="adj" fmla="val 1625"/>
            </a:avLst>
          </a:prstGeom>
          <a:solidFill>
            <a:srgbClr val="241631"/>
          </a:solidFill>
          <a:ln w="22860">
            <a:solidFill>
              <a:srgbClr val="5C4E69"/>
            </a:solidFill>
            <a:prstDash val="solid"/>
          </a:ln>
        </p:spPr>
        <p:txBody>
          <a:bodyPr/>
          <a:lstStyle/>
          <a:p>
            <a:endParaRPr lang="en-AE"/>
          </a:p>
        </p:txBody>
      </p:sp>
      <p:sp>
        <p:nvSpPr>
          <p:cNvPr id="20" name="Text 18"/>
          <p:cNvSpPr/>
          <p:nvPr/>
        </p:nvSpPr>
        <p:spPr>
          <a:xfrm>
            <a:off x="7589877" y="5679162"/>
            <a:ext cx="2623899" cy="262533"/>
          </a:xfrm>
          <a:prstGeom prst="rect">
            <a:avLst/>
          </a:prstGeom>
          <a:noFill/>
          <a:ln/>
        </p:spPr>
        <p:txBody>
          <a:bodyPr wrap="none" lIns="0" tIns="0" rIns="0" bIns="0" rtlCol="0" anchor="t"/>
          <a:lstStyle/>
          <a:p>
            <a:pPr marL="0" indent="0" algn="l">
              <a:lnSpc>
                <a:spcPts val="2050"/>
              </a:lnSpc>
              <a:buNone/>
            </a:pPr>
            <a:r>
              <a:rPr lang="en-US" sz="1650" b="1" dirty="0">
                <a:solidFill>
                  <a:srgbClr val="DAD1E6"/>
                </a:solidFill>
                <a:latin typeface="Inconsolata Bold" pitchFamily="34" charset="0"/>
                <a:ea typeface="Inconsolata Bold" pitchFamily="34" charset="-122"/>
                <a:cs typeface="Inconsolata Bold" pitchFamily="34" charset="-120"/>
              </a:rPr>
              <a:t>Mobile-Friendly Interface</a:t>
            </a:r>
            <a:endParaRPr lang="en-US" sz="1650" dirty="0"/>
          </a:p>
        </p:txBody>
      </p:sp>
      <p:sp>
        <p:nvSpPr>
          <p:cNvPr id="21" name="Text 19"/>
          <p:cNvSpPr/>
          <p:nvPr/>
        </p:nvSpPr>
        <p:spPr>
          <a:xfrm>
            <a:off x="7589877" y="6042422"/>
            <a:ext cx="6177915" cy="806172"/>
          </a:xfrm>
          <a:prstGeom prst="rect">
            <a:avLst/>
          </a:prstGeom>
          <a:noFill/>
          <a:ln/>
        </p:spPr>
        <p:txBody>
          <a:bodyPr wrap="square" lIns="0" tIns="0" rIns="0" bIns="0" rtlCol="0" anchor="t"/>
          <a:lstStyle/>
          <a:p>
            <a:pPr marL="0" indent="0" algn="l">
              <a:lnSpc>
                <a:spcPts val="2100"/>
              </a:lnSpc>
              <a:buNone/>
            </a:pPr>
            <a:r>
              <a:rPr lang="en-US" sz="1300" dirty="0">
                <a:solidFill>
                  <a:srgbClr val="DAD1E6"/>
                </a:solidFill>
                <a:latin typeface="Fira Sans" pitchFamily="34" charset="0"/>
                <a:ea typeface="Fira Sans" pitchFamily="34" charset="-122"/>
                <a:cs typeface="Fira Sans" pitchFamily="34" charset="-120"/>
              </a:rPr>
              <a:t>The dashboard is fully responsive and optimized for mobile phones and tablets, ensuring full functionality and an excellent user experience whether in a clinic, a field unit, or on the go.</a:t>
            </a:r>
            <a:endParaRPr lang="en-US" sz="1300" dirty="0"/>
          </a:p>
        </p:txBody>
      </p:sp>
      <p:sp>
        <p:nvSpPr>
          <p:cNvPr id="22" name="Text 20"/>
          <p:cNvSpPr/>
          <p:nvPr/>
        </p:nvSpPr>
        <p:spPr>
          <a:xfrm>
            <a:off x="671870" y="7228284"/>
            <a:ext cx="13286661" cy="537448"/>
          </a:xfrm>
          <a:prstGeom prst="rect">
            <a:avLst/>
          </a:prstGeom>
          <a:noFill/>
          <a:ln/>
        </p:spPr>
        <p:txBody>
          <a:bodyPr wrap="square" lIns="0" tIns="0" rIns="0" bIns="0" rtlCol="0" anchor="t"/>
          <a:lstStyle/>
          <a:p>
            <a:pPr marL="0" indent="0" algn="l">
              <a:lnSpc>
                <a:spcPts val="2100"/>
              </a:lnSpc>
              <a:buNone/>
            </a:pPr>
            <a:r>
              <a:rPr lang="en-US" sz="1300" dirty="0">
                <a:solidFill>
                  <a:srgbClr val="DAD1E6"/>
                </a:solidFill>
                <a:latin typeface="Fira Sans" pitchFamily="34" charset="0"/>
                <a:ea typeface="Fira Sans" pitchFamily="34" charset="-122"/>
                <a:cs typeface="Fira Sans" pitchFamily="34" charset="-120"/>
              </a:rPr>
              <a:t>It’s not just a screen — it’s a </a:t>
            </a:r>
            <a:r>
              <a:rPr lang="en-US" sz="1300" b="1" dirty="0">
                <a:solidFill>
                  <a:srgbClr val="DAD1E6"/>
                </a:solidFill>
                <a:latin typeface="Fira Sans" pitchFamily="34" charset="0"/>
                <a:ea typeface="Fira Sans" pitchFamily="34" charset="-122"/>
                <a:cs typeface="Fira Sans" pitchFamily="34" charset="-120"/>
              </a:rPr>
              <a:t>remote command center</a:t>
            </a:r>
            <a:r>
              <a:rPr lang="en-US" sz="1300" dirty="0">
                <a:solidFill>
                  <a:srgbClr val="DAD1E6"/>
                </a:solidFill>
                <a:latin typeface="Fira Sans" pitchFamily="34" charset="0"/>
                <a:ea typeface="Fira Sans" pitchFamily="34" charset="-122"/>
                <a:cs typeface="Fira Sans" pitchFamily="34" charset="-120"/>
              </a:rPr>
              <a:t> that provides comprehensive oversight and empowers medical professionals to manage dialysis treatments with confidence and precision, regardless of their physical proximity to the patient.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86978" y="403503"/>
            <a:ext cx="9351288" cy="458629"/>
          </a:xfrm>
          <a:prstGeom prst="rect">
            <a:avLst/>
          </a:prstGeom>
          <a:noFill/>
          <a:ln/>
        </p:spPr>
        <p:txBody>
          <a:bodyPr wrap="none" lIns="0" tIns="0" rIns="0" bIns="0" rtlCol="0" anchor="t"/>
          <a:lstStyle/>
          <a:p>
            <a:pPr marL="0" indent="0" algn="l">
              <a:lnSpc>
                <a:spcPts val="3600"/>
              </a:lnSpc>
              <a:buNone/>
            </a:pPr>
            <a:r>
              <a:rPr lang="en-US" sz="2850" b="1" dirty="0">
                <a:solidFill>
                  <a:srgbClr val="F94CAF"/>
                </a:solidFill>
                <a:latin typeface="Inconsolata Bold" pitchFamily="34" charset="0"/>
                <a:ea typeface="Inconsolata Bold" pitchFamily="34" charset="-122"/>
                <a:cs typeface="Inconsolata Bold" pitchFamily="34" charset="-120"/>
              </a:rPr>
              <a:t>Built-In Safety Intelligence: Protecting Every Life</a:t>
            </a:r>
            <a:endParaRPr lang="en-US" sz="2850" dirty="0"/>
          </a:p>
        </p:txBody>
      </p:sp>
      <p:sp>
        <p:nvSpPr>
          <p:cNvPr id="3" name="Text 1"/>
          <p:cNvSpPr/>
          <p:nvPr/>
        </p:nvSpPr>
        <p:spPr>
          <a:xfrm>
            <a:off x="586978" y="1155621"/>
            <a:ext cx="13456444" cy="469582"/>
          </a:xfrm>
          <a:prstGeom prst="rect">
            <a:avLst/>
          </a:prstGeom>
          <a:noFill/>
          <a:ln/>
        </p:spPr>
        <p:txBody>
          <a:bodyPr wrap="square" lIns="0" tIns="0" rIns="0" bIns="0" rtlCol="0" anchor="t"/>
          <a:lstStyle/>
          <a:p>
            <a:pPr marL="0" indent="0" algn="l">
              <a:lnSpc>
                <a:spcPts val="1800"/>
              </a:lnSpc>
              <a:buNone/>
            </a:pPr>
            <a:r>
              <a:rPr lang="en-US" sz="1150" dirty="0">
                <a:solidFill>
                  <a:srgbClr val="DAD1E6"/>
                </a:solidFill>
                <a:latin typeface="Fira Sans" pitchFamily="34" charset="0"/>
                <a:ea typeface="Fira Sans" pitchFamily="34" charset="-122"/>
                <a:cs typeface="Fira Sans" pitchFamily="34" charset="-120"/>
              </a:rPr>
              <a:t>At Black Iris, patient safety is paramount. We have engineered the Kidney Washing Unit with multiple layers of built-in safety intelligence, ensuring robust protection and proactive anomaly detection at every stage of the dialysis process. Our system doesn't just monitor; it actively safeguards.</a:t>
            </a:r>
            <a:endParaRPr lang="en-US" sz="1150" dirty="0"/>
          </a:p>
        </p:txBody>
      </p:sp>
      <p:pic>
        <p:nvPicPr>
          <p:cNvPr id="4" name="Image 0" descr="preencoded.png"/>
          <p:cNvPicPr>
            <a:picLocks noChangeAspect="1"/>
          </p:cNvPicPr>
          <p:nvPr/>
        </p:nvPicPr>
        <p:blipFill>
          <a:blip r:embed="rId3"/>
          <a:stretch>
            <a:fillRect/>
          </a:stretch>
        </p:blipFill>
        <p:spPr>
          <a:xfrm>
            <a:off x="586978" y="1790224"/>
            <a:ext cx="733782" cy="1080254"/>
          </a:xfrm>
          <a:prstGeom prst="rect">
            <a:avLst/>
          </a:prstGeom>
        </p:spPr>
      </p:pic>
      <p:sp>
        <p:nvSpPr>
          <p:cNvPr id="5" name="Text 2"/>
          <p:cNvSpPr/>
          <p:nvPr/>
        </p:nvSpPr>
        <p:spPr>
          <a:xfrm>
            <a:off x="1467445" y="1936909"/>
            <a:ext cx="2658666" cy="229314"/>
          </a:xfrm>
          <a:prstGeom prst="rect">
            <a:avLst/>
          </a:prstGeom>
          <a:noFill/>
          <a:ln/>
        </p:spPr>
        <p:txBody>
          <a:bodyPr wrap="none" lIns="0" tIns="0" rIns="0" bIns="0" rtlCol="0" anchor="t"/>
          <a:lstStyle/>
          <a:p>
            <a:pPr marL="0" indent="0" algn="l">
              <a:lnSpc>
                <a:spcPts val="1800"/>
              </a:lnSpc>
              <a:buNone/>
            </a:pPr>
            <a:r>
              <a:rPr lang="en-US" sz="1400" b="1" dirty="0">
                <a:solidFill>
                  <a:srgbClr val="DAD1E6"/>
                </a:solidFill>
                <a:latin typeface="Inconsolata Bold" pitchFamily="34" charset="0"/>
                <a:ea typeface="Inconsolata Bold" pitchFamily="34" charset="-122"/>
                <a:cs typeface="Inconsolata Bold" pitchFamily="34" charset="-120"/>
              </a:rPr>
              <a:t>Automated Temperature Control</a:t>
            </a:r>
            <a:endParaRPr lang="en-US" sz="1400" dirty="0"/>
          </a:p>
        </p:txBody>
      </p:sp>
      <p:sp>
        <p:nvSpPr>
          <p:cNvPr id="6" name="Text 3"/>
          <p:cNvSpPr/>
          <p:nvPr/>
        </p:nvSpPr>
        <p:spPr>
          <a:xfrm>
            <a:off x="1467445" y="2254210"/>
            <a:ext cx="12575977" cy="469582"/>
          </a:xfrm>
          <a:prstGeom prst="rect">
            <a:avLst/>
          </a:prstGeom>
          <a:noFill/>
          <a:ln/>
        </p:spPr>
        <p:txBody>
          <a:bodyPr wrap="square" lIns="0" tIns="0" rIns="0" bIns="0" rtlCol="0" anchor="t"/>
          <a:lstStyle/>
          <a:p>
            <a:pPr marL="0" indent="0" algn="l">
              <a:lnSpc>
                <a:spcPts val="1800"/>
              </a:lnSpc>
              <a:buNone/>
            </a:pPr>
            <a:r>
              <a:rPr lang="en-US" sz="1150" dirty="0">
                <a:solidFill>
                  <a:srgbClr val="DAD1E6"/>
                </a:solidFill>
                <a:latin typeface="Fira Sans" pitchFamily="34" charset="0"/>
                <a:ea typeface="Fira Sans" pitchFamily="34" charset="-122"/>
                <a:cs typeface="Fira Sans" pitchFamily="34" charset="-120"/>
              </a:rPr>
              <a:t>The system features an intelligent auto-shutdown mechanism that activates instantly if the dialysate temperature deviates beyond safe high or low thresholds, preventing thermal injury to the patient.</a:t>
            </a:r>
            <a:endParaRPr lang="en-US" sz="1150" dirty="0"/>
          </a:p>
        </p:txBody>
      </p:sp>
      <p:pic>
        <p:nvPicPr>
          <p:cNvPr id="7" name="Image 1" descr="preencoded.png"/>
          <p:cNvPicPr>
            <a:picLocks noChangeAspect="1"/>
          </p:cNvPicPr>
          <p:nvPr/>
        </p:nvPicPr>
        <p:blipFill>
          <a:blip r:embed="rId4"/>
          <a:stretch>
            <a:fillRect/>
          </a:stretch>
        </p:blipFill>
        <p:spPr>
          <a:xfrm>
            <a:off x="586978" y="2870478"/>
            <a:ext cx="733782" cy="1080254"/>
          </a:xfrm>
          <a:prstGeom prst="rect">
            <a:avLst/>
          </a:prstGeom>
        </p:spPr>
      </p:pic>
      <p:sp>
        <p:nvSpPr>
          <p:cNvPr id="8" name="Text 4"/>
          <p:cNvSpPr/>
          <p:nvPr/>
        </p:nvSpPr>
        <p:spPr>
          <a:xfrm>
            <a:off x="1467445" y="3017163"/>
            <a:ext cx="2383631" cy="229314"/>
          </a:xfrm>
          <a:prstGeom prst="rect">
            <a:avLst/>
          </a:prstGeom>
          <a:noFill/>
          <a:ln/>
        </p:spPr>
        <p:txBody>
          <a:bodyPr wrap="none" lIns="0" tIns="0" rIns="0" bIns="0" rtlCol="0" anchor="t"/>
          <a:lstStyle/>
          <a:p>
            <a:pPr marL="0" indent="0" algn="l">
              <a:lnSpc>
                <a:spcPts val="1800"/>
              </a:lnSpc>
              <a:buNone/>
            </a:pPr>
            <a:r>
              <a:rPr lang="en-US" sz="1400" b="1" dirty="0">
                <a:solidFill>
                  <a:srgbClr val="DAD1E6"/>
                </a:solidFill>
                <a:latin typeface="Inconsolata Bold" pitchFamily="34" charset="0"/>
                <a:ea typeface="Inconsolata Bold" pitchFamily="34" charset="-122"/>
                <a:cs typeface="Inconsolata Bold" pitchFamily="34" charset="-120"/>
              </a:rPr>
              <a:t>Pressure Limit Enforcement</a:t>
            </a:r>
            <a:endParaRPr lang="en-US" sz="1400" dirty="0"/>
          </a:p>
        </p:txBody>
      </p:sp>
      <p:sp>
        <p:nvSpPr>
          <p:cNvPr id="9" name="Text 5"/>
          <p:cNvSpPr/>
          <p:nvPr/>
        </p:nvSpPr>
        <p:spPr>
          <a:xfrm>
            <a:off x="1467445" y="3334464"/>
            <a:ext cx="12575977" cy="469582"/>
          </a:xfrm>
          <a:prstGeom prst="rect">
            <a:avLst/>
          </a:prstGeom>
          <a:noFill/>
          <a:ln/>
        </p:spPr>
        <p:txBody>
          <a:bodyPr wrap="square" lIns="0" tIns="0" rIns="0" bIns="0" rtlCol="0" anchor="t"/>
          <a:lstStyle/>
          <a:p>
            <a:pPr marL="0" indent="0" algn="l">
              <a:lnSpc>
                <a:spcPts val="1800"/>
              </a:lnSpc>
              <a:buNone/>
            </a:pPr>
            <a:r>
              <a:rPr lang="en-US" sz="1150" dirty="0">
                <a:solidFill>
                  <a:srgbClr val="DAD1E6"/>
                </a:solidFill>
                <a:latin typeface="Fira Sans" pitchFamily="34" charset="0"/>
                <a:ea typeface="Fira Sans" pitchFamily="34" charset="-122"/>
                <a:cs typeface="Fira Sans" pitchFamily="34" charset="-120"/>
              </a:rPr>
              <a:t>Pre-defined pressure limits are strictly enforced. Any sudden spike or drop in pressure within the fluid lines triggers an immediate and automatic system stop, preventing potential damage to the patient’s delicate vascular access or the equipment.</a:t>
            </a:r>
            <a:endParaRPr lang="en-US" sz="1150" dirty="0"/>
          </a:p>
        </p:txBody>
      </p:sp>
      <p:pic>
        <p:nvPicPr>
          <p:cNvPr id="10" name="Image 2" descr="preencoded.png"/>
          <p:cNvPicPr>
            <a:picLocks noChangeAspect="1"/>
          </p:cNvPicPr>
          <p:nvPr/>
        </p:nvPicPr>
        <p:blipFill>
          <a:blip r:embed="rId5"/>
          <a:stretch>
            <a:fillRect/>
          </a:stretch>
        </p:blipFill>
        <p:spPr>
          <a:xfrm>
            <a:off x="586978" y="3950732"/>
            <a:ext cx="733782" cy="1080254"/>
          </a:xfrm>
          <a:prstGeom prst="rect">
            <a:avLst/>
          </a:prstGeom>
        </p:spPr>
      </p:pic>
      <p:sp>
        <p:nvSpPr>
          <p:cNvPr id="11" name="Text 6"/>
          <p:cNvSpPr/>
          <p:nvPr/>
        </p:nvSpPr>
        <p:spPr>
          <a:xfrm>
            <a:off x="1467445" y="4097417"/>
            <a:ext cx="3208734" cy="229314"/>
          </a:xfrm>
          <a:prstGeom prst="rect">
            <a:avLst/>
          </a:prstGeom>
          <a:noFill/>
          <a:ln/>
        </p:spPr>
        <p:txBody>
          <a:bodyPr wrap="none" lIns="0" tIns="0" rIns="0" bIns="0" rtlCol="0" anchor="t"/>
          <a:lstStyle/>
          <a:p>
            <a:pPr marL="0" indent="0" algn="l">
              <a:lnSpc>
                <a:spcPts val="1800"/>
              </a:lnSpc>
              <a:buNone/>
            </a:pPr>
            <a:r>
              <a:rPr lang="en-US" sz="1400" b="1" dirty="0">
                <a:solidFill>
                  <a:srgbClr val="DAD1E6"/>
                </a:solidFill>
                <a:latin typeface="Inconsolata Bold" pitchFamily="34" charset="0"/>
                <a:ea typeface="Inconsolata Bold" pitchFamily="34" charset="-122"/>
                <a:cs typeface="Inconsolata Bold" pitchFamily="34" charset="-120"/>
              </a:rPr>
              <a:t>Comprehensive Sensor Failure Alerts</a:t>
            </a:r>
            <a:endParaRPr lang="en-US" sz="1400" dirty="0"/>
          </a:p>
        </p:txBody>
      </p:sp>
      <p:sp>
        <p:nvSpPr>
          <p:cNvPr id="12" name="Text 7"/>
          <p:cNvSpPr/>
          <p:nvPr/>
        </p:nvSpPr>
        <p:spPr>
          <a:xfrm>
            <a:off x="1467445" y="4414718"/>
            <a:ext cx="12575977" cy="469582"/>
          </a:xfrm>
          <a:prstGeom prst="rect">
            <a:avLst/>
          </a:prstGeom>
          <a:noFill/>
          <a:ln/>
        </p:spPr>
        <p:txBody>
          <a:bodyPr wrap="square" lIns="0" tIns="0" rIns="0" bIns="0" rtlCol="0" anchor="t"/>
          <a:lstStyle/>
          <a:p>
            <a:pPr marL="0" indent="0" algn="l">
              <a:lnSpc>
                <a:spcPts val="1800"/>
              </a:lnSpc>
              <a:buNone/>
            </a:pPr>
            <a:r>
              <a:rPr lang="en-US" sz="1150" dirty="0">
                <a:solidFill>
                  <a:srgbClr val="DAD1E6"/>
                </a:solidFill>
                <a:latin typeface="Fira Sans" pitchFamily="34" charset="0"/>
                <a:ea typeface="Fira Sans" pitchFamily="34" charset="-122"/>
                <a:cs typeface="Fira Sans" pitchFamily="34" charset="-120"/>
              </a:rPr>
              <a:t>The system constantly self-diagnoses its sensors. In the event of a sensor malfunction or detection of abnormal fluid flow patterns, immediate alerts are triggered, ensuring that no critical parameter goes unmonitored.</a:t>
            </a:r>
            <a:endParaRPr lang="en-US" sz="1150" dirty="0"/>
          </a:p>
        </p:txBody>
      </p:sp>
      <p:pic>
        <p:nvPicPr>
          <p:cNvPr id="13" name="Image 3" descr="preencoded.png"/>
          <p:cNvPicPr>
            <a:picLocks noChangeAspect="1"/>
          </p:cNvPicPr>
          <p:nvPr/>
        </p:nvPicPr>
        <p:blipFill>
          <a:blip r:embed="rId6"/>
          <a:stretch>
            <a:fillRect/>
          </a:stretch>
        </p:blipFill>
        <p:spPr>
          <a:xfrm>
            <a:off x="586978" y="5030986"/>
            <a:ext cx="733782" cy="1080254"/>
          </a:xfrm>
          <a:prstGeom prst="rect">
            <a:avLst/>
          </a:prstGeom>
        </p:spPr>
      </p:pic>
      <p:sp>
        <p:nvSpPr>
          <p:cNvPr id="14" name="Text 8"/>
          <p:cNvSpPr/>
          <p:nvPr/>
        </p:nvSpPr>
        <p:spPr>
          <a:xfrm>
            <a:off x="1467445" y="5177671"/>
            <a:ext cx="2383631" cy="229314"/>
          </a:xfrm>
          <a:prstGeom prst="rect">
            <a:avLst/>
          </a:prstGeom>
          <a:noFill/>
          <a:ln/>
        </p:spPr>
        <p:txBody>
          <a:bodyPr wrap="none" lIns="0" tIns="0" rIns="0" bIns="0" rtlCol="0" anchor="t"/>
          <a:lstStyle/>
          <a:p>
            <a:pPr marL="0" indent="0" algn="l">
              <a:lnSpc>
                <a:spcPts val="1800"/>
              </a:lnSpc>
              <a:buNone/>
            </a:pPr>
            <a:r>
              <a:rPr lang="en-US" sz="1400" b="1" dirty="0">
                <a:solidFill>
                  <a:srgbClr val="DAD1E6"/>
                </a:solidFill>
                <a:latin typeface="Inconsolata Bold" pitchFamily="34" charset="0"/>
                <a:ea typeface="Inconsolata Bold" pitchFamily="34" charset="-122"/>
                <a:cs typeface="Inconsolata Bold" pitchFamily="34" charset="-120"/>
              </a:rPr>
              <a:t>Multi-Modal Warning System</a:t>
            </a:r>
            <a:endParaRPr lang="en-US" sz="1400" dirty="0"/>
          </a:p>
        </p:txBody>
      </p:sp>
      <p:sp>
        <p:nvSpPr>
          <p:cNvPr id="15" name="Text 9"/>
          <p:cNvSpPr/>
          <p:nvPr/>
        </p:nvSpPr>
        <p:spPr>
          <a:xfrm>
            <a:off x="1467445" y="5494972"/>
            <a:ext cx="12575977" cy="469582"/>
          </a:xfrm>
          <a:prstGeom prst="rect">
            <a:avLst/>
          </a:prstGeom>
          <a:noFill/>
          <a:ln/>
        </p:spPr>
        <p:txBody>
          <a:bodyPr wrap="square" lIns="0" tIns="0" rIns="0" bIns="0" rtlCol="0" anchor="t"/>
          <a:lstStyle/>
          <a:p>
            <a:pPr marL="0" indent="0" algn="l">
              <a:lnSpc>
                <a:spcPts val="1800"/>
              </a:lnSpc>
              <a:buNone/>
            </a:pPr>
            <a:r>
              <a:rPr lang="en-US" sz="1150" dirty="0">
                <a:solidFill>
                  <a:srgbClr val="DAD1E6"/>
                </a:solidFill>
                <a:latin typeface="Fira Sans" pitchFamily="34" charset="0"/>
                <a:ea typeface="Fira Sans" pitchFamily="34" charset="-122"/>
                <a:cs typeface="Fira Sans" pitchFamily="34" charset="-120"/>
              </a:rPr>
              <a:t>To ensure alerts are never missed, the unit incorporates both an audible buzzer for immediate attention and clear red/green LED indicators that visually communicate system status—red for alerts/errors, green for normal operation.</a:t>
            </a:r>
            <a:endParaRPr lang="en-US" sz="1150" dirty="0"/>
          </a:p>
        </p:txBody>
      </p:sp>
      <p:pic>
        <p:nvPicPr>
          <p:cNvPr id="16" name="Image 4" descr="preencoded.png"/>
          <p:cNvPicPr>
            <a:picLocks noChangeAspect="1"/>
          </p:cNvPicPr>
          <p:nvPr/>
        </p:nvPicPr>
        <p:blipFill>
          <a:blip r:embed="rId7"/>
          <a:stretch>
            <a:fillRect/>
          </a:stretch>
        </p:blipFill>
        <p:spPr>
          <a:xfrm>
            <a:off x="586978" y="6111240"/>
            <a:ext cx="733782" cy="1080254"/>
          </a:xfrm>
          <a:prstGeom prst="rect">
            <a:avLst/>
          </a:prstGeom>
        </p:spPr>
      </p:pic>
      <p:sp>
        <p:nvSpPr>
          <p:cNvPr id="17" name="Text 10"/>
          <p:cNvSpPr/>
          <p:nvPr/>
        </p:nvSpPr>
        <p:spPr>
          <a:xfrm>
            <a:off x="1467445" y="6257925"/>
            <a:ext cx="2108597" cy="229314"/>
          </a:xfrm>
          <a:prstGeom prst="rect">
            <a:avLst/>
          </a:prstGeom>
          <a:noFill/>
          <a:ln/>
        </p:spPr>
        <p:txBody>
          <a:bodyPr wrap="none" lIns="0" tIns="0" rIns="0" bIns="0" rtlCol="0" anchor="t"/>
          <a:lstStyle/>
          <a:p>
            <a:pPr marL="0" indent="0" algn="l">
              <a:lnSpc>
                <a:spcPts val="1800"/>
              </a:lnSpc>
              <a:buNone/>
            </a:pPr>
            <a:r>
              <a:rPr lang="en-US" sz="1400" b="1" dirty="0">
                <a:solidFill>
                  <a:srgbClr val="DAD1E6"/>
                </a:solidFill>
                <a:latin typeface="Inconsolata Bold" pitchFamily="34" charset="0"/>
                <a:ea typeface="Inconsolata Bold" pitchFamily="34" charset="-122"/>
                <a:cs typeface="Inconsolata Bold" pitchFamily="34" charset="-120"/>
              </a:rPr>
              <a:t>Live LCD Status Display</a:t>
            </a:r>
            <a:endParaRPr lang="en-US" sz="1400" dirty="0"/>
          </a:p>
        </p:txBody>
      </p:sp>
      <p:sp>
        <p:nvSpPr>
          <p:cNvPr id="18" name="Text 11"/>
          <p:cNvSpPr/>
          <p:nvPr/>
        </p:nvSpPr>
        <p:spPr>
          <a:xfrm>
            <a:off x="1467445" y="6575227"/>
            <a:ext cx="12575977" cy="469582"/>
          </a:xfrm>
          <a:prstGeom prst="rect">
            <a:avLst/>
          </a:prstGeom>
          <a:noFill/>
          <a:ln/>
        </p:spPr>
        <p:txBody>
          <a:bodyPr wrap="square" lIns="0" tIns="0" rIns="0" bIns="0" rtlCol="0" anchor="t"/>
          <a:lstStyle/>
          <a:p>
            <a:pPr marL="0" indent="0" algn="l">
              <a:lnSpc>
                <a:spcPts val="1800"/>
              </a:lnSpc>
              <a:buNone/>
            </a:pPr>
            <a:r>
              <a:rPr lang="en-US" sz="1150" dirty="0">
                <a:solidFill>
                  <a:srgbClr val="DAD1E6"/>
                </a:solidFill>
                <a:latin typeface="Fira Sans" pitchFamily="34" charset="0"/>
                <a:ea typeface="Fira Sans" pitchFamily="34" charset="-122"/>
                <a:cs typeface="Fira Sans" pitchFamily="34" charset="-120"/>
              </a:rPr>
              <a:t>A dedicated LCD screen on the hardware unit provides continuous, live updates of the system’s operational status and current sensor readings, offering a crucial local visual check for caregivers.</a:t>
            </a:r>
            <a:endParaRPr lang="en-US" sz="1150" dirty="0"/>
          </a:p>
        </p:txBody>
      </p:sp>
      <p:sp>
        <p:nvSpPr>
          <p:cNvPr id="19" name="Text 12"/>
          <p:cNvSpPr/>
          <p:nvPr/>
        </p:nvSpPr>
        <p:spPr>
          <a:xfrm>
            <a:off x="586978" y="7356515"/>
            <a:ext cx="13456444" cy="469582"/>
          </a:xfrm>
          <a:prstGeom prst="rect">
            <a:avLst/>
          </a:prstGeom>
          <a:noFill/>
          <a:ln/>
        </p:spPr>
        <p:txBody>
          <a:bodyPr wrap="square" lIns="0" tIns="0" rIns="0" bIns="0" rtlCol="0" anchor="t"/>
          <a:lstStyle/>
          <a:p>
            <a:pPr marL="0" indent="0" algn="l">
              <a:lnSpc>
                <a:spcPts val="1800"/>
              </a:lnSpc>
              <a:buNone/>
            </a:pPr>
            <a:r>
              <a:rPr lang="en-US" sz="1150" dirty="0">
                <a:solidFill>
                  <a:srgbClr val="DAD1E6"/>
                </a:solidFill>
                <a:latin typeface="Fira Sans" pitchFamily="34" charset="0"/>
                <a:ea typeface="Fira Sans" pitchFamily="34" charset="-122"/>
                <a:cs typeface="Fira Sans" pitchFamily="34" charset="-120"/>
              </a:rPr>
              <a:t>With these integrated safety features, there’s </a:t>
            </a:r>
            <a:r>
              <a:rPr lang="en-US" sz="1150" b="1" dirty="0">
                <a:solidFill>
                  <a:srgbClr val="DAD1E6"/>
                </a:solidFill>
                <a:latin typeface="Fira Sans" pitchFamily="34" charset="0"/>
                <a:ea typeface="Fira Sans" pitchFamily="34" charset="-122"/>
                <a:cs typeface="Fira Sans" pitchFamily="34" charset="-120"/>
              </a:rPr>
              <a:t>no need to guess</a:t>
            </a:r>
            <a:r>
              <a:rPr lang="en-US" sz="1150" dirty="0">
                <a:solidFill>
                  <a:srgbClr val="DAD1E6"/>
                </a:solidFill>
                <a:latin typeface="Fira Sans" pitchFamily="34" charset="0"/>
                <a:ea typeface="Fira Sans" pitchFamily="34" charset="-122"/>
                <a:cs typeface="Fira Sans" pitchFamily="34" charset="-120"/>
              </a:rPr>
              <a:t> the system's status. The unit continuously watches and safeguards every critical parameter, providing peace of mind and significantly reducing the risk of complications during mobile dialysis treatments.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28543" y="890707"/>
            <a:ext cx="10927199" cy="569238"/>
          </a:xfrm>
          <a:prstGeom prst="rect">
            <a:avLst/>
          </a:prstGeom>
          <a:noFill/>
          <a:ln/>
        </p:spPr>
        <p:txBody>
          <a:bodyPr wrap="none" lIns="0" tIns="0" rIns="0" bIns="0" rtlCol="0" anchor="t"/>
          <a:lstStyle/>
          <a:p>
            <a:pPr marL="0" indent="0" algn="l">
              <a:lnSpc>
                <a:spcPts val="4450"/>
              </a:lnSpc>
              <a:buNone/>
            </a:pPr>
            <a:r>
              <a:rPr lang="en-US" sz="3550" b="1" dirty="0">
                <a:solidFill>
                  <a:srgbClr val="F94CAF"/>
                </a:solidFill>
                <a:latin typeface="Inconsolata Bold" pitchFamily="34" charset="0"/>
                <a:ea typeface="Inconsolata Bold" pitchFamily="34" charset="-122"/>
                <a:cs typeface="Inconsolata Bold" pitchFamily="34" charset="-120"/>
              </a:rPr>
              <a:t>Advanced Features: Future-Proofing Dialysis Care</a:t>
            </a:r>
            <a:endParaRPr lang="en-US" sz="3550" dirty="0"/>
          </a:p>
        </p:txBody>
      </p:sp>
      <p:sp>
        <p:nvSpPr>
          <p:cNvPr id="3" name="Text 1"/>
          <p:cNvSpPr/>
          <p:nvPr/>
        </p:nvSpPr>
        <p:spPr>
          <a:xfrm>
            <a:off x="728543" y="1824157"/>
            <a:ext cx="13173313" cy="582930"/>
          </a:xfrm>
          <a:prstGeom prst="rect">
            <a:avLst/>
          </a:prstGeom>
          <a:noFill/>
          <a:ln/>
        </p:spPr>
        <p:txBody>
          <a:bodyPr wrap="squar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Beyond its core functionality, the Black Iris portable smart dialysis unit is designed with forward-thinking features that enhance its utility, scalability, and long-term value for healthcare providers. We’ve future-proofed the platform to meet evolving medical needs and technological advancements.</a:t>
            </a:r>
            <a:endParaRPr lang="en-US" sz="1400" dirty="0"/>
          </a:p>
        </p:txBody>
      </p:sp>
      <p:sp>
        <p:nvSpPr>
          <p:cNvPr id="4" name="Text 2"/>
          <p:cNvSpPr/>
          <p:nvPr/>
        </p:nvSpPr>
        <p:spPr>
          <a:xfrm>
            <a:off x="728543" y="2775823"/>
            <a:ext cx="6364486" cy="1457325"/>
          </a:xfrm>
          <a:prstGeom prst="rect">
            <a:avLst/>
          </a:prstGeom>
          <a:noFill/>
          <a:ln/>
        </p:spPr>
        <p:txBody>
          <a:bodyPr wrap="square" lIns="0" tIns="0" rIns="0" bIns="0" rtlCol="0" anchor="t"/>
          <a:lstStyle/>
          <a:p>
            <a:pPr marL="342900" indent="-342900" algn="l">
              <a:lnSpc>
                <a:spcPts val="2250"/>
              </a:lnSpc>
              <a:buSzPct val="100000"/>
              <a:buChar char="•"/>
            </a:pPr>
            <a:r>
              <a:rPr lang="en-US" sz="1400" b="1" dirty="0">
                <a:solidFill>
                  <a:srgbClr val="000000"/>
                </a:solidFill>
                <a:latin typeface="Fira Sans" pitchFamily="34" charset="0"/>
                <a:ea typeface="Fira Sans" pitchFamily="34" charset="-122"/>
                <a:cs typeface="Fira Sans" pitchFamily="34" charset="-120"/>
              </a:rPr>
              <a:t>📈</a:t>
            </a:r>
            <a:r>
              <a:rPr lang="en-US" sz="1400" dirty="0">
                <a:solidFill>
                  <a:srgbClr val="DAD1E6"/>
                </a:solidFill>
                <a:latin typeface="Fira Sans" pitchFamily="34" charset="0"/>
                <a:ea typeface="Fira Sans" pitchFamily="34" charset="-122"/>
                <a:cs typeface="Fira Sans" pitchFamily="34" charset="-120"/>
              </a:rPr>
              <a:t> Predictive Maintenance Alerts: Our system intelligently analyzes operational data to anticipate potential component failures or maintenance needs before they occur. This proactive approach minimizes downtime, ensures continuous service availability, and extends the lifespan of the unit, reducing operational costs.</a:t>
            </a:r>
            <a:endParaRPr lang="en-US" sz="1400" dirty="0"/>
          </a:p>
        </p:txBody>
      </p:sp>
      <p:sp>
        <p:nvSpPr>
          <p:cNvPr id="5" name="Text 3"/>
          <p:cNvSpPr/>
          <p:nvPr/>
        </p:nvSpPr>
        <p:spPr>
          <a:xfrm>
            <a:off x="728543" y="4296847"/>
            <a:ext cx="6364486" cy="1457325"/>
          </a:xfrm>
          <a:prstGeom prst="rect">
            <a:avLst/>
          </a:prstGeom>
          <a:noFill/>
          <a:ln/>
        </p:spPr>
        <p:txBody>
          <a:bodyPr wrap="square" lIns="0" tIns="0" rIns="0" bIns="0" rtlCol="0" anchor="t"/>
          <a:lstStyle/>
          <a:p>
            <a:pPr marL="342900" indent="-342900" algn="l">
              <a:lnSpc>
                <a:spcPts val="2250"/>
              </a:lnSpc>
              <a:buSzPct val="100000"/>
              <a:buChar char="•"/>
            </a:pPr>
            <a:r>
              <a:rPr lang="en-US" sz="1400" b="1" dirty="0">
                <a:solidFill>
                  <a:srgbClr val="000000"/>
                </a:solidFill>
                <a:latin typeface="Fira Sans" pitchFamily="34" charset="0"/>
                <a:ea typeface="Fira Sans" pitchFamily="34" charset="-122"/>
                <a:cs typeface="Fira Sans" pitchFamily="34" charset="-120"/>
              </a:rPr>
              <a:t>📦</a:t>
            </a:r>
            <a:r>
              <a:rPr lang="en-US" sz="1400" dirty="0">
                <a:solidFill>
                  <a:srgbClr val="DAD1E6"/>
                </a:solidFill>
                <a:latin typeface="Fira Sans" pitchFamily="34" charset="0"/>
                <a:ea typeface="Fira Sans" pitchFamily="34" charset="-122"/>
                <a:cs typeface="Fira Sans" pitchFamily="34" charset="-120"/>
              </a:rPr>
              <a:t> SD Card Data Logging: Every treatment session is meticulously recorded and stored on an integrated SD card. This comprehensive data logging provides an invaluable historical record of patient treatment parameters, allowing for detailed analysis, compliance tracking, and informed clinical decision-making.</a:t>
            </a:r>
            <a:endParaRPr lang="en-US" sz="1400" dirty="0"/>
          </a:p>
        </p:txBody>
      </p:sp>
      <p:sp>
        <p:nvSpPr>
          <p:cNvPr id="6" name="Text 4"/>
          <p:cNvSpPr/>
          <p:nvPr/>
        </p:nvSpPr>
        <p:spPr>
          <a:xfrm>
            <a:off x="728543" y="5817870"/>
            <a:ext cx="6364486" cy="1457325"/>
          </a:xfrm>
          <a:prstGeom prst="rect">
            <a:avLst/>
          </a:prstGeom>
          <a:noFill/>
          <a:ln/>
        </p:spPr>
        <p:txBody>
          <a:bodyPr wrap="square" lIns="0" tIns="0" rIns="0" bIns="0" rtlCol="0" anchor="t"/>
          <a:lstStyle/>
          <a:p>
            <a:pPr marL="342900" indent="-342900" algn="l">
              <a:lnSpc>
                <a:spcPts val="2250"/>
              </a:lnSpc>
              <a:buSzPct val="100000"/>
              <a:buChar char="•"/>
            </a:pPr>
            <a:r>
              <a:rPr lang="en-US" sz="1400" b="1" dirty="0">
                <a:solidFill>
                  <a:srgbClr val="000000"/>
                </a:solidFill>
                <a:latin typeface="Fira Sans" pitchFamily="34" charset="0"/>
                <a:ea typeface="Fira Sans" pitchFamily="34" charset="-122"/>
                <a:cs typeface="Fira Sans" pitchFamily="34" charset="-120"/>
              </a:rPr>
              <a:t>📡</a:t>
            </a:r>
            <a:r>
              <a:rPr lang="en-US" sz="1400" dirty="0">
                <a:solidFill>
                  <a:srgbClr val="DAD1E6"/>
                </a:solidFill>
                <a:latin typeface="Fira Sans" pitchFamily="34" charset="0"/>
                <a:ea typeface="Fira Sans" pitchFamily="34" charset="-122"/>
                <a:cs typeface="Fira Sans" pitchFamily="34" charset="-120"/>
              </a:rPr>
              <a:t> MQTT Cloud Integration for Hospitals: The unit is equipped with MQTT (Message Queuing Telemetry Transport) capabilities, enabling secure and efficient data transmission to hospital cloud platforms. This allows central medical facilities to monitor multiple units remotely, access patient data, and provide expert oversight from a distance.</a:t>
            </a:r>
            <a:endParaRPr lang="en-US" sz="1400" dirty="0"/>
          </a:p>
        </p:txBody>
      </p:sp>
      <p:sp>
        <p:nvSpPr>
          <p:cNvPr id="7" name="Text 5"/>
          <p:cNvSpPr/>
          <p:nvPr/>
        </p:nvSpPr>
        <p:spPr>
          <a:xfrm>
            <a:off x="7544991" y="2775823"/>
            <a:ext cx="6364486" cy="1457325"/>
          </a:xfrm>
          <a:prstGeom prst="rect">
            <a:avLst/>
          </a:prstGeom>
          <a:noFill/>
          <a:ln/>
        </p:spPr>
        <p:txBody>
          <a:bodyPr wrap="square" lIns="0" tIns="0" rIns="0" bIns="0" rtlCol="0" anchor="t"/>
          <a:lstStyle/>
          <a:p>
            <a:pPr marL="342900" indent="-342900" algn="l">
              <a:lnSpc>
                <a:spcPts val="2250"/>
              </a:lnSpc>
              <a:buSzPct val="100000"/>
              <a:buChar char="•"/>
            </a:pPr>
            <a:r>
              <a:rPr lang="en-US" sz="1400" b="1" dirty="0">
                <a:solidFill>
                  <a:srgbClr val="000000"/>
                </a:solidFill>
                <a:latin typeface="Fira Sans" pitchFamily="34" charset="0"/>
                <a:ea typeface="Fira Sans" pitchFamily="34" charset="-122"/>
                <a:cs typeface="Fira Sans" pitchFamily="34" charset="-120"/>
              </a:rPr>
              <a:t>📱</a:t>
            </a:r>
            <a:r>
              <a:rPr lang="en-US" sz="1400" dirty="0">
                <a:solidFill>
                  <a:srgbClr val="DAD1E6"/>
                </a:solidFill>
                <a:latin typeface="Fira Sans" pitchFamily="34" charset="0"/>
                <a:ea typeface="Fira Sans" pitchFamily="34" charset="-122"/>
                <a:cs typeface="Fira Sans" pitchFamily="34" charset="-120"/>
              </a:rPr>
              <a:t> Mobile-Responsive Dashboard: As detailed previously, the web dashboard is fully optimized for all mobile devices, ensuring that healthcare professionals can access real-time data, control the unit, and receive alerts seamlessly from smartphones or tablets, enhancing mobility and responsiveness.</a:t>
            </a:r>
            <a:endParaRPr lang="en-US" sz="1400" dirty="0"/>
          </a:p>
        </p:txBody>
      </p:sp>
      <p:sp>
        <p:nvSpPr>
          <p:cNvPr id="8" name="Text 6"/>
          <p:cNvSpPr/>
          <p:nvPr/>
        </p:nvSpPr>
        <p:spPr>
          <a:xfrm>
            <a:off x="7544991" y="4296847"/>
            <a:ext cx="6364486" cy="1457325"/>
          </a:xfrm>
          <a:prstGeom prst="rect">
            <a:avLst/>
          </a:prstGeom>
          <a:noFill/>
          <a:ln/>
        </p:spPr>
        <p:txBody>
          <a:bodyPr wrap="square" lIns="0" tIns="0" rIns="0" bIns="0" rtlCol="0" anchor="t"/>
          <a:lstStyle/>
          <a:p>
            <a:pPr marL="342900" indent="-342900" algn="l">
              <a:lnSpc>
                <a:spcPts val="2250"/>
              </a:lnSpc>
              <a:buSzPct val="100000"/>
              <a:buChar char="•"/>
            </a:pPr>
            <a:r>
              <a:rPr lang="en-US" sz="1400" b="1" dirty="0">
                <a:solidFill>
                  <a:srgbClr val="000000"/>
                </a:solidFill>
                <a:latin typeface="Fira Sans" pitchFamily="34" charset="0"/>
                <a:ea typeface="Fira Sans" pitchFamily="34" charset="-122"/>
                <a:cs typeface="Fira Sans" pitchFamily="34" charset="-120"/>
              </a:rPr>
              <a:t>🔁</a:t>
            </a:r>
            <a:r>
              <a:rPr lang="en-US" sz="1400" dirty="0">
                <a:solidFill>
                  <a:srgbClr val="DAD1E6"/>
                </a:solidFill>
                <a:latin typeface="Fira Sans" pitchFamily="34" charset="0"/>
                <a:ea typeface="Fira Sans" pitchFamily="34" charset="-122"/>
                <a:cs typeface="Fira Sans" pitchFamily="34" charset="-120"/>
              </a:rPr>
              <a:t> Modular Design for Extensibility: The hardware and software architecture are built on a modular design principle. This allows for easy swapping of sensors, integration of new components, or expansion of functions as medical technology advances or specific patient needs arise, ensuring the unit remains cutting-edge and adaptable.</a:t>
            </a:r>
            <a:endParaRPr lang="en-US" sz="1400" dirty="0"/>
          </a:p>
        </p:txBody>
      </p:sp>
      <p:sp>
        <p:nvSpPr>
          <p:cNvPr id="9" name="Text 7"/>
          <p:cNvSpPr/>
          <p:nvPr/>
        </p:nvSpPr>
        <p:spPr>
          <a:xfrm>
            <a:off x="7544991" y="5918002"/>
            <a:ext cx="6364486" cy="874395"/>
          </a:xfrm>
          <a:prstGeom prst="rect">
            <a:avLst/>
          </a:prstGeom>
          <a:noFill/>
          <a:ln/>
        </p:spPr>
        <p:txBody>
          <a:bodyPr wrap="squar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These advanced features collectively ensure that our portable smart dialysis unit is not just a solution for today but a robust, scalable, and extensible platform built to last and evolve with the demands of modern healthcare.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12589" y="526137"/>
            <a:ext cx="10909816" cy="556736"/>
          </a:xfrm>
          <a:prstGeom prst="rect">
            <a:avLst/>
          </a:prstGeom>
          <a:noFill/>
          <a:ln/>
        </p:spPr>
        <p:txBody>
          <a:bodyPr wrap="none" lIns="0" tIns="0" rIns="0" bIns="0" rtlCol="0" anchor="t"/>
          <a:lstStyle/>
          <a:p>
            <a:pPr marL="0" indent="0" algn="l">
              <a:lnSpc>
                <a:spcPts val="4350"/>
              </a:lnSpc>
              <a:buNone/>
            </a:pPr>
            <a:r>
              <a:rPr lang="en-US" sz="3500" b="1" dirty="0">
                <a:solidFill>
                  <a:srgbClr val="F94CAF"/>
                </a:solidFill>
                <a:latin typeface="Inconsolata Bold" pitchFamily="34" charset="0"/>
                <a:ea typeface="Inconsolata Bold" pitchFamily="34" charset="-122"/>
                <a:cs typeface="Inconsolata Bold" pitchFamily="34" charset="-120"/>
              </a:rPr>
              <a:t>Designed for the Field: Empowering Frontline Care</a:t>
            </a:r>
            <a:endParaRPr lang="en-US" sz="3500" dirty="0"/>
          </a:p>
        </p:txBody>
      </p:sp>
      <p:sp>
        <p:nvSpPr>
          <p:cNvPr id="3" name="Text 1"/>
          <p:cNvSpPr/>
          <p:nvPr/>
        </p:nvSpPr>
        <p:spPr>
          <a:xfrm>
            <a:off x="712589" y="1439108"/>
            <a:ext cx="13205222" cy="854750"/>
          </a:xfrm>
          <a:prstGeom prst="rect">
            <a:avLst/>
          </a:prstGeom>
          <a:noFill/>
          <a:ln/>
        </p:spPr>
        <p:txBody>
          <a:bodyPr wrap="square" lIns="0" tIns="0" rIns="0" bIns="0" rtlCol="0" anchor="t"/>
          <a:lstStyle/>
          <a:p>
            <a:pPr marL="0" indent="0" algn="l">
              <a:lnSpc>
                <a:spcPts val="2200"/>
              </a:lnSpc>
              <a:buNone/>
            </a:pPr>
            <a:r>
              <a:rPr lang="en-US" sz="1400" dirty="0">
                <a:solidFill>
                  <a:srgbClr val="DAD1E6"/>
                </a:solidFill>
                <a:latin typeface="Fira Sans" pitchFamily="34" charset="0"/>
                <a:ea typeface="Fira Sans" pitchFamily="34" charset="-122"/>
                <a:cs typeface="Fira Sans" pitchFamily="34" charset="-120"/>
              </a:rPr>
              <a:t>The Black Iris Portable Smart Dialysis Unit is not confined to the sterile environment of a hospital. It is ruggedly designed and strategically engineered to bring life-saving dialysis directly to those who need it most, regardless of their location or existing infrastructure limitations. This innovation empowers a wide range of frontline medical services to deliver critical care efficiently and safely.</a:t>
            </a:r>
            <a:endParaRPr lang="en-US" sz="1400" dirty="0"/>
          </a:p>
        </p:txBody>
      </p:sp>
      <p:pic>
        <p:nvPicPr>
          <p:cNvPr id="4" name="Image 0" descr="preencoded.png"/>
          <p:cNvPicPr>
            <a:picLocks noChangeAspect="1"/>
          </p:cNvPicPr>
          <p:nvPr/>
        </p:nvPicPr>
        <p:blipFill>
          <a:blip r:embed="rId3"/>
          <a:stretch>
            <a:fillRect/>
          </a:stretch>
        </p:blipFill>
        <p:spPr>
          <a:xfrm>
            <a:off x="712589" y="2494240"/>
            <a:ext cx="534353" cy="534352"/>
          </a:xfrm>
          <a:prstGeom prst="rect">
            <a:avLst/>
          </a:prstGeom>
        </p:spPr>
      </p:pic>
      <p:sp>
        <p:nvSpPr>
          <p:cNvPr id="5" name="Text 2"/>
          <p:cNvSpPr/>
          <p:nvPr/>
        </p:nvSpPr>
        <p:spPr>
          <a:xfrm>
            <a:off x="712589" y="3251240"/>
            <a:ext cx="3117056" cy="278249"/>
          </a:xfrm>
          <a:prstGeom prst="rect">
            <a:avLst/>
          </a:prstGeom>
          <a:noFill/>
          <a:ln/>
        </p:spPr>
        <p:txBody>
          <a:bodyPr wrap="none" lIns="0" tIns="0" rIns="0" bIns="0" rtlCol="0" anchor="t"/>
          <a:lstStyle/>
          <a:p>
            <a:pPr marL="0" indent="0" algn="l">
              <a:lnSpc>
                <a:spcPts val="2150"/>
              </a:lnSpc>
              <a:buNone/>
            </a:pPr>
            <a:r>
              <a:rPr lang="en-US" sz="1750" b="1" dirty="0">
                <a:solidFill>
                  <a:srgbClr val="DAD1E6"/>
                </a:solidFill>
                <a:latin typeface="Inconsolata Bold" pitchFamily="34" charset="0"/>
                <a:ea typeface="Inconsolata Bold" pitchFamily="34" charset="-122"/>
                <a:cs typeface="Inconsolata Bold" pitchFamily="34" charset="-120"/>
              </a:rPr>
              <a:t>Emergency Ambulance Services</a:t>
            </a:r>
            <a:endParaRPr lang="en-US" sz="1750" dirty="0"/>
          </a:p>
        </p:txBody>
      </p:sp>
      <p:sp>
        <p:nvSpPr>
          <p:cNvPr id="6" name="Text 3"/>
          <p:cNvSpPr/>
          <p:nvPr/>
        </p:nvSpPr>
        <p:spPr>
          <a:xfrm>
            <a:off x="712589" y="3636288"/>
            <a:ext cx="6491288" cy="854750"/>
          </a:xfrm>
          <a:prstGeom prst="rect">
            <a:avLst/>
          </a:prstGeom>
          <a:noFill/>
          <a:ln/>
        </p:spPr>
        <p:txBody>
          <a:bodyPr wrap="square" lIns="0" tIns="0" rIns="0" bIns="0" rtlCol="0" anchor="t"/>
          <a:lstStyle/>
          <a:p>
            <a:pPr marL="0" indent="0" algn="l">
              <a:lnSpc>
                <a:spcPts val="2200"/>
              </a:lnSpc>
              <a:buNone/>
            </a:pPr>
            <a:r>
              <a:rPr lang="en-US" sz="1400" dirty="0">
                <a:solidFill>
                  <a:srgbClr val="DAD1E6"/>
                </a:solidFill>
                <a:latin typeface="Fira Sans" pitchFamily="34" charset="0"/>
                <a:ea typeface="Fira Sans" pitchFamily="34" charset="-122"/>
                <a:cs typeface="Fira Sans" pitchFamily="34" charset="-120"/>
              </a:rPr>
              <a:t>Enables paramedics to initiate emergency dialysis en route to a hospital, stabilizing patients and significantly improving outcomes during critical transport situations.</a:t>
            </a:r>
            <a:endParaRPr lang="en-US" sz="1400" dirty="0"/>
          </a:p>
        </p:txBody>
      </p:sp>
      <p:pic>
        <p:nvPicPr>
          <p:cNvPr id="7" name="Image 1" descr="preencoded.png"/>
          <p:cNvPicPr>
            <a:picLocks noChangeAspect="1"/>
          </p:cNvPicPr>
          <p:nvPr/>
        </p:nvPicPr>
        <p:blipFill>
          <a:blip r:embed="rId4"/>
          <a:stretch>
            <a:fillRect/>
          </a:stretch>
        </p:blipFill>
        <p:spPr>
          <a:xfrm>
            <a:off x="7426523" y="2494240"/>
            <a:ext cx="534353" cy="534352"/>
          </a:xfrm>
          <a:prstGeom prst="rect">
            <a:avLst/>
          </a:prstGeom>
        </p:spPr>
      </p:pic>
      <p:sp>
        <p:nvSpPr>
          <p:cNvPr id="8" name="Text 4"/>
          <p:cNvSpPr/>
          <p:nvPr/>
        </p:nvSpPr>
        <p:spPr>
          <a:xfrm>
            <a:off x="7426523" y="3251240"/>
            <a:ext cx="2226826" cy="278249"/>
          </a:xfrm>
          <a:prstGeom prst="rect">
            <a:avLst/>
          </a:prstGeom>
          <a:noFill/>
          <a:ln/>
        </p:spPr>
        <p:txBody>
          <a:bodyPr wrap="none" lIns="0" tIns="0" rIns="0" bIns="0" rtlCol="0" anchor="t"/>
          <a:lstStyle/>
          <a:p>
            <a:pPr marL="0" indent="0" algn="l">
              <a:lnSpc>
                <a:spcPts val="2150"/>
              </a:lnSpc>
              <a:buNone/>
            </a:pPr>
            <a:r>
              <a:rPr lang="en-US" sz="1750" b="1" dirty="0">
                <a:solidFill>
                  <a:srgbClr val="DAD1E6"/>
                </a:solidFill>
                <a:latin typeface="Inconsolata Bold" pitchFamily="34" charset="0"/>
                <a:ea typeface="Inconsolata Bold" pitchFamily="34" charset="-122"/>
                <a:cs typeface="Inconsolata Bold" pitchFamily="34" charset="-120"/>
              </a:rPr>
              <a:t>Refugee Health Units</a:t>
            </a:r>
            <a:endParaRPr lang="en-US" sz="1750" dirty="0"/>
          </a:p>
        </p:txBody>
      </p:sp>
      <p:sp>
        <p:nvSpPr>
          <p:cNvPr id="9" name="Text 5"/>
          <p:cNvSpPr/>
          <p:nvPr/>
        </p:nvSpPr>
        <p:spPr>
          <a:xfrm>
            <a:off x="7426523" y="3636288"/>
            <a:ext cx="6491288" cy="854750"/>
          </a:xfrm>
          <a:prstGeom prst="rect">
            <a:avLst/>
          </a:prstGeom>
          <a:noFill/>
          <a:ln/>
        </p:spPr>
        <p:txBody>
          <a:bodyPr wrap="square" lIns="0" tIns="0" rIns="0" bIns="0" rtlCol="0" anchor="t"/>
          <a:lstStyle/>
          <a:p>
            <a:pPr marL="0" indent="0" algn="l">
              <a:lnSpc>
                <a:spcPts val="2200"/>
              </a:lnSpc>
              <a:buNone/>
            </a:pPr>
            <a:r>
              <a:rPr lang="en-US" sz="1400" dirty="0">
                <a:solidFill>
                  <a:srgbClr val="DAD1E6"/>
                </a:solidFill>
                <a:latin typeface="Fira Sans" pitchFamily="34" charset="0"/>
                <a:ea typeface="Fira Sans" pitchFamily="34" charset="-122"/>
                <a:cs typeface="Fira Sans" pitchFamily="34" charset="-120"/>
              </a:rPr>
              <a:t>Provides vital, consistent dialysis care within refugee camps, addressing a critical health disparity and reducing the need for dangerous and lengthy patient transfers.</a:t>
            </a:r>
            <a:endParaRPr lang="en-US" sz="1400" dirty="0"/>
          </a:p>
        </p:txBody>
      </p:sp>
      <p:pic>
        <p:nvPicPr>
          <p:cNvPr id="10" name="Image 2" descr="preencoded.png"/>
          <p:cNvPicPr>
            <a:picLocks noChangeAspect="1"/>
          </p:cNvPicPr>
          <p:nvPr/>
        </p:nvPicPr>
        <p:blipFill>
          <a:blip r:embed="rId5"/>
          <a:stretch>
            <a:fillRect/>
          </a:stretch>
        </p:blipFill>
        <p:spPr>
          <a:xfrm>
            <a:off x="712589" y="4936331"/>
            <a:ext cx="534353" cy="534352"/>
          </a:xfrm>
          <a:prstGeom prst="rect">
            <a:avLst/>
          </a:prstGeom>
        </p:spPr>
      </p:pic>
      <p:sp>
        <p:nvSpPr>
          <p:cNvPr id="11" name="Text 6"/>
          <p:cNvSpPr/>
          <p:nvPr/>
        </p:nvSpPr>
        <p:spPr>
          <a:xfrm>
            <a:off x="712589" y="5693331"/>
            <a:ext cx="2337792" cy="278249"/>
          </a:xfrm>
          <a:prstGeom prst="rect">
            <a:avLst/>
          </a:prstGeom>
          <a:noFill/>
          <a:ln/>
        </p:spPr>
        <p:txBody>
          <a:bodyPr wrap="none" lIns="0" tIns="0" rIns="0" bIns="0" rtlCol="0" anchor="t"/>
          <a:lstStyle/>
          <a:p>
            <a:pPr marL="0" indent="0" algn="l">
              <a:lnSpc>
                <a:spcPts val="2150"/>
              </a:lnSpc>
              <a:buNone/>
            </a:pPr>
            <a:r>
              <a:rPr lang="en-US" sz="1750" b="1" dirty="0">
                <a:solidFill>
                  <a:srgbClr val="DAD1E6"/>
                </a:solidFill>
                <a:latin typeface="Inconsolata Bold" pitchFamily="34" charset="0"/>
                <a:ea typeface="Inconsolata Bold" pitchFamily="34" charset="-122"/>
                <a:cs typeface="Inconsolata Bold" pitchFamily="34" charset="-120"/>
              </a:rPr>
              <a:t>Remote Public Clinics</a:t>
            </a:r>
            <a:endParaRPr lang="en-US" sz="1750" dirty="0"/>
          </a:p>
        </p:txBody>
      </p:sp>
      <p:sp>
        <p:nvSpPr>
          <p:cNvPr id="12" name="Text 7"/>
          <p:cNvSpPr/>
          <p:nvPr/>
        </p:nvSpPr>
        <p:spPr>
          <a:xfrm>
            <a:off x="712589" y="6078379"/>
            <a:ext cx="6491288" cy="854750"/>
          </a:xfrm>
          <a:prstGeom prst="rect">
            <a:avLst/>
          </a:prstGeom>
          <a:noFill/>
          <a:ln/>
        </p:spPr>
        <p:txBody>
          <a:bodyPr wrap="square" lIns="0" tIns="0" rIns="0" bIns="0" rtlCol="0" anchor="t"/>
          <a:lstStyle/>
          <a:p>
            <a:pPr marL="0" indent="0" algn="l">
              <a:lnSpc>
                <a:spcPts val="2200"/>
              </a:lnSpc>
              <a:buNone/>
            </a:pPr>
            <a:r>
              <a:rPr lang="en-US" sz="1400" dirty="0">
                <a:solidFill>
                  <a:srgbClr val="DAD1E6"/>
                </a:solidFill>
                <a:latin typeface="Fira Sans" pitchFamily="34" charset="0"/>
                <a:ea typeface="Fira Sans" pitchFamily="34" charset="-122"/>
                <a:cs typeface="Fira Sans" pitchFamily="34" charset="-120"/>
              </a:rPr>
              <a:t>Extends the reach of dialysis treatment to underserved rural communities, allowing patients to receive regular care closer to home and improving their quality of life.</a:t>
            </a:r>
            <a:endParaRPr lang="en-US" sz="1400" dirty="0"/>
          </a:p>
        </p:txBody>
      </p:sp>
      <p:pic>
        <p:nvPicPr>
          <p:cNvPr id="13" name="Image 3" descr="preencoded.png"/>
          <p:cNvPicPr>
            <a:picLocks noChangeAspect="1"/>
          </p:cNvPicPr>
          <p:nvPr/>
        </p:nvPicPr>
        <p:blipFill>
          <a:blip r:embed="rId6"/>
          <a:stretch>
            <a:fillRect/>
          </a:stretch>
        </p:blipFill>
        <p:spPr>
          <a:xfrm>
            <a:off x="7426523" y="4936331"/>
            <a:ext cx="534353" cy="534352"/>
          </a:xfrm>
          <a:prstGeom prst="rect">
            <a:avLst/>
          </a:prstGeom>
        </p:spPr>
      </p:pic>
      <p:sp>
        <p:nvSpPr>
          <p:cNvPr id="14" name="Text 8"/>
          <p:cNvSpPr/>
          <p:nvPr/>
        </p:nvSpPr>
        <p:spPr>
          <a:xfrm>
            <a:off x="7426523" y="5693331"/>
            <a:ext cx="3784997" cy="278249"/>
          </a:xfrm>
          <a:prstGeom prst="rect">
            <a:avLst/>
          </a:prstGeom>
          <a:noFill/>
          <a:ln/>
        </p:spPr>
        <p:txBody>
          <a:bodyPr wrap="none" lIns="0" tIns="0" rIns="0" bIns="0" rtlCol="0" anchor="t"/>
          <a:lstStyle/>
          <a:p>
            <a:pPr marL="0" indent="0" algn="l">
              <a:lnSpc>
                <a:spcPts val="2150"/>
              </a:lnSpc>
              <a:buNone/>
            </a:pPr>
            <a:r>
              <a:rPr lang="en-US" sz="1750" b="1" dirty="0">
                <a:solidFill>
                  <a:srgbClr val="DAD1E6"/>
                </a:solidFill>
                <a:latin typeface="Inconsolata Bold" pitchFamily="34" charset="0"/>
                <a:ea typeface="Inconsolata Bold" pitchFamily="34" charset="-122"/>
                <a:cs typeface="Inconsolata Bold" pitchFamily="34" charset="-120"/>
              </a:rPr>
              <a:t>Military &amp; Disaster Response Teams</a:t>
            </a:r>
            <a:endParaRPr lang="en-US" sz="1750" dirty="0"/>
          </a:p>
        </p:txBody>
      </p:sp>
      <p:sp>
        <p:nvSpPr>
          <p:cNvPr id="15" name="Text 9"/>
          <p:cNvSpPr/>
          <p:nvPr/>
        </p:nvSpPr>
        <p:spPr>
          <a:xfrm>
            <a:off x="7426523" y="6078379"/>
            <a:ext cx="6491288" cy="854750"/>
          </a:xfrm>
          <a:prstGeom prst="rect">
            <a:avLst/>
          </a:prstGeom>
          <a:noFill/>
          <a:ln/>
        </p:spPr>
        <p:txBody>
          <a:bodyPr wrap="square" lIns="0" tIns="0" rIns="0" bIns="0" rtlCol="0" anchor="t"/>
          <a:lstStyle/>
          <a:p>
            <a:pPr marL="0" indent="0" algn="l">
              <a:lnSpc>
                <a:spcPts val="2200"/>
              </a:lnSpc>
              <a:buNone/>
            </a:pPr>
            <a:r>
              <a:rPr lang="en-US" sz="1400" dirty="0">
                <a:solidFill>
                  <a:srgbClr val="DAD1E6"/>
                </a:solidFill>
                <a:latin typeface="Fira Sans" pitchFamily="34" charset="0"/>
                <a:ea typeface="Fira Sans" pitchFamily="34" charset="-122"/>
                <a:cs typeface="Fira Sans" pitchFamily="34" charset="-120"/>
              </a:rPr>
              <a:t>Offers a crucial medical capability in austere environments, providing immediate dialysis support to casualties or populations affected by natural disasters, where conventional medical facilities are unavailable.</a:t>
            </a:r>
            <a:endParaRPr lang="en-US" sz="1400" dirty="0"/>
          </a:p>
        </p:txBody>
      </p:sp>
      <p:sp>
        <p:nvSpPr>
          <p:cNvPr id="16" name="Text 10"/>
          <p:cNvSpPr/>
          <p:nvPr/>
        </p:nvSpPr>
        <p:spPr>
          <a:xfrm>
            <a:off x="712589" y="7133511"/>
            <a:ext cx="13205222" cy="569833"/>
          </a:xfrm>
          <a:prstGeom prst="rect">
            <a:avLst/>
          </a:prstGeom>
          <a:noFill/>
          <a:ln/>
        </p:spPr>
        <p:txBody>
          <a:bodyPr wrap="square" lIns="0" tIns="0" rIns="0" bIns="0" rtlCol="0" anchor="t"/>
          <a:lstStyle/>
          <a:p>
            <a:pPr marL="0" indent="0" algn="l">
              <a:lnSpc>
                <a:spcPts val="2200"/>
              </a:lnSpc>
              <a:buNone/>
            </a:pPr>
            <a:r>
              <a:rPr lang="en-US" sz="1400" dirty="0">
                <a:solidFill>
                  <a:srgbClr val="DAD1E6"/>
                </a:solidFill>
                <a:latin typeface="Fira Sans" pitchFamily="34" charset="0"/>
                <a:ea typeface="Fira Sans" pitchFamily="34" charset="-122"/>
                <a:cs typeface="Fira Sans" pitchFamily="34" charset="-120"/>
              </a:rPr>
              <a:t>This project fundamentally transforms dialysis into a </a:t>
            </a:r>
            <a:r>
              <a:rPr lang="en-US" sz="1400" b="1" dirty="0">
                <a:solidFill>
                  <a:srgbClr val="DAD1E6"/>
                </a:solidFill>
                <a:latin typeface="Fira Sans" pitchFamily="34" charset="0"/>
                <a:ea typeface="Fira Sans" pitchFamily="34" charset="-122"/>
                <a:cs typeface="Fira Sans" pitchFamily="34" charset="-120"/>
              </a:rPr>
              <a:t>mobile, safe, and affordable</a:t>
            </a:r>
            <a:r>
              <a:rPr lang="en-US" sz="1400" dirty="0">
                <a:solidFill>
                  <a:srgbClr val="DAD1E6"/>
                </a:solidFill>
                <a:latin typeface="Fira Sans" pitchFamily="34" charset="0"/>
                <a:ea typeface="Fira Sans" pitchFamily="34" charset="-122"/>
                <a:cs typeface="Fira Sans" pitchFamily="34" charset="-120"/>
              </a:rPr>
              <a:t> service. By democratizing access to critical kidney care, we are directly addressing a major healthcare challenge for underserved areas across Jordan and laying the groundwork for broader impact throughout the MENA region.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6100538" y="431515"/>
            <a:ext cx="9822094" cy="7366570"/>
          </a:xfrm>
          <a:prstGeom prst="rect">
            <a:avLst/>
          </a:prstGeom>
        </p:spPr>
      </p:pic>
      <p:sp>
        <p:nvSpPr>
          <p:cNvPr id="3" name="Text 0"/>
          <p:cNvSpPr/>
          <p:nvPr/>
        </p:nvSpPr>
        <p:spPr>
          <a:xfrm>
            <a:off x="793790" y="1160383"/>
            <a:ext cx="7556421" cy="1860233"/>
          </a:xfrm>
          <a:prstGeom prst="rect">
            <a:avLst/>
          </a:prstGeom>
          <a:noFill/>
          <a:ln/>
        </p:spPr>
        <p:txBody>
          <a:bodyPr wrap="square" lIns="0" tIns="0" rIns="0" bIns="0" rtlCol="0" anchor="t"/>
          <a:lstStyle/>
          <a:p>
            <a:pPr marL="0" indent="0" algn="ctr">
              <a:lnSpc>
                <a:spcPts val="4850"/>
              </a:lnSpc>
              <a:buNone/>
            </a:pPr>
            <a:r>
              <a:rPr lang="en-US" sz="3900" b="1" dirty="0">
                <a:solidFill>
                  <a:srgbClr val="FFFFFF"/>
                </a:solidFill>
                <a:latin typeface="Inconsolata Bold" pitchFamily="34" charset="0"/>
                <a:ea typeface="Inconsolata Bold" pitchFamily="34" charset="-122"/>
                <a:cs typeface="Inconsolata Bold" pitchFamily="34" charset="-120"/>
              </a:rPr>
              <a:t>Final Message: Protecting Lives with Smart, Real-Time Safety</a:t>
            </a:r>
            <a:endParaRPr lang="en-US" sz="3900" dirty="0"/>
          </a:p>
        </p:txBody>
      </p:sp>
      <p:sp>
        <p:nvSpPr>
          <p:cNvPr id="4" name="Text 1"/>
          <p:cNvSpPr/>
          <p:nvPr/>
        </p:nvSpPr>
        <p:spPr>
          <a:xfrm>
            <a:off x="1091446" y="3541514"/>
            <a:ext cx="7258764" cy="635079"/>
          </a:xfrm>
          <a:prstGeom prst="rect">
            <a:avLst/>
          </a:prstGeom>
          <a:noFill/>
          <a:ln/>
        </p:spPr>
        <p:txBody>
          <a:bodyPr wrap="square" lIns="0" tIns="0" rIns="0" bIns="0" rtlCol="0" anchor="t"/>
          <a:lstStyle/>
          <a:p>
            <a:pPr marL="0" indent="0" algn="l">
              <a:lnSpc>
                <a:spcPts val="2500"/>
              </a:lnSpc>
              <a:buNone/>
            </a:pPr>
            <a:r>
              <a:rPr lang="en-US" sz="1550" b="1" dirty="0">
                <a:solidFill>
                  <a:srgbClr val="FFFFFF"/>
                </a:solidFill>
                <a:latin typeface="Fira Sans" pitchFamily="34" charset="0"/>
                <a:ea typeface="Fira Sans" pitchFamily="34" charset="-122"/>
                <a:cs typeface="Fira Sans" pitchFamily="34" charset="-120"/>
              </a:rPr>
              <a:t>We don’t just monitor dialysis — </a:t>
            </a:r>
            <a:r>
              <a:rPr lang="en-US" sz="1550" b="1" dirty="0">
                <a:solidFill>
                  <a:srgbClr val="AEE4BD"/>
                </a:solidFill>
                <a:latin typeface="Fira Sans" pitchFamily="34" charset="0"/>
                <a:ea typeface="Fira Sans" pitchFamily="34" charset="-122"/>
                <a:cs typeface="Fira Sans" pitchFamily="34" charset="-120"/>
              </a:rPr>
              <a:t>we protect lives</a:t>
            </a:r>
            <a:r>
              <a:rPr lang="en-US" sz="1550" b="1" dirty="0">
                <a:solidFill>
                  <a:srgbClr val="FFFFFF"/>
                </a:solidFill>
                <a:latin typeface="Fira Sans" pitchFamily="34" charset="0"/>
                <a:ea typeface="Fira Sans" pitchFamily="34" charset="-122"/>
                <a:cs typeface="Fira Sans" pitchFamily="34" charset="-120"/>
              </a:rPr>
              <a:t> with smart, real-time, AI-powered safety.</a:t>
            </a:r>
            <a:endParaRPr lang="en-US" sz="1550" dirty="0"/>
          </a:p>
        </p:txBody>
      </p:sp>
      <p:sp>
        <p:nvSpPr>
          <p:cNvPr id="5" name="Shape 2"/>
          <p:cNvSpPr/>
          <p:nvPr/>
        </p:nvSpPr>
        <p:spPr>
          <a:xfrm>
            <a:off x="793790" y="3318272"/>
            <a:ext cx="22860" cy="1081564"/>
          </a:xfrm>
          <a:prstGeom prst="rect">
            <a:avLst/>
          </a:prstGeom>
          <a:solidFill>
            <a:srgbClr val="F94CAF"/>
          </a:solidFill>
          <a:ln/>
        </p:spPr>
        <p:txBody>
          <a:bodyPr/>
          <a:lstStyle/>
          <a:p>
            <a:endParaRPr lang="en-AE"/>
          </a:p>
        </p:txBody>
      </p:sp>
      <p:sp>
        <p:nvSpPr>
          <p:cNvPr id="6" name="Text 3"/>
          <p:cNvSpPr/>
          <p:nvPr/>
        </p:nvSpPr>
        <p:spPr>
          <a:xfrm>
            <a:off x="793790" y="4623078"/>
            <a:ext cx="7556421" cy="1270159"/>
          </a:xfrm>
          <a:prstGeom prst="rect">
            <a:avLst/>
          </a:prstGeom>
          <a:noFill/>
          <a:ln/>
        </p:spPr>
        <p:txBody>
          <a:bodyPr wrap="square" lIns="0" tIns="0" rIns="0" bIns="0" rtlCol="0" anchor="t"/>
          <a:lstStyle/>
          <a:p>
            <a:pPr marL="0" indent="0" algn="ctr">
              <a:lnSpc>
                <a:spcPts val="2500"/>
              </a:lnSpc>
              <a:buNone/>
            </a:pPr>
            <a:r>
              <a:rPr lang="en-US" sz="1550" dirty="0">
                <a:solidFill>
                  <a:srgbClr val="FFFFFF"/>
                </a:solidFill>
                <a:latin typeface="Fira Sans" pitchFamily="34" charset="0"/>
                <a:ea typeface="Fira Sans" pitchFamily="34" charset="-122"/>
                <a:cs typeface="Fira Sans" pitchFamily="34" charset="-120"/>
              </a:rPr>
              <a:t>At </a:t>
            </a:r>
            <a:r>
              <a:rPr lang="en-US" sz="1550" b="1" dirty="0">
                <a:solidFill>
                  <a:srgbClr val="FFFFFF"/>
                </a:solidFill>
                <a:latin typeface="Fira Sans" pitchFamily="34" charset="0"/>
                <a:ea typeface="Fira Sans" pitchFamily="34" charset="-122"/>
                <a:cs typeface="Fira Sans" pitchFamily="34" charset="-120"/>
              </a:rPr>
              <a:t>Black Iris</a:t>
            </a:r>
            <a:r>
              <a:rPr lang="en-US" sz="1550" dirty="0">
                <a:solidFill>
                  <a:srgbClr val="FFFFFF"/>
                </a:solidFill>
                <a:latin typeface="Fira Sans" pitchFamily="34" charset="0"/>
                <a:ea typeface="Fira Sans" pitchFamily="34" charset="-122"/>
                <a:cs typeface="Fira Sans" pitchFamily="34" charset="-120"/>
              </a:rPr>
              <a:t>, we are driven by a commitment to innovation that serves humanity. We are immensely proud to lead the charge in advancing mobile healthcare solutions for Jordan, setting new standards for accessibility, safety, and efficiency in vital medical treatments.</a:t>
            </a:r>
            <a:endParaRPr lang="en-US" sz="1550" dirty="0"/>
          </a:p>
        </p:txBody>
      </p:sp>
      <p:sp>
        <p:nvSpPr>
          <p:cNvPr id="7" name="Text 4"/>
          <p:cNvSpPr/>
          <p:nvPr/>
        </p:nvSpPr>
        <p:spPr>
          <a:xfrm>
            <a:off x="793790" y="6116479"/>
            <a:ext cx="7556421" cy="952619"/>
          </a:xfrm>
          <a:prstGeom prst="rect">
            <a:avLst/>
          </a:prstGeom>
          <a:noFill/>
          <a:ln/>
        </p:spPr>
        <p:txBody>
          <a:bodyPr wrap="square" lIns="0" tIns="0" rIns="0" bIns="0" rtlCol="0" anchor="t"/>
          <a:lstStyle/>
          <a:p>
            <a:pPr marL="0" indent="0" algn="ctr">
              <a:lnSpc>
                <a:spcPts val="2500"/>
              </a:lnSpc>
              <a:buNone/>
            </a:pPr>
            <a:r>
              <a:rPr lang="en-US" sz="1550" dirty="0">
                <a:solidFill>
                  <a:srgbClr val="FFFFFF"/>
                </a:solidFill>
                <a:latin typeface="Fira Sans" pitchFamily="34" charset="0"/>
                <a:ea typeface="Fira Sans" pitchFamily="34" charset="-122"/>
                <a:cs typeface="Fira Sans" pitchFamily="34" charset="-120"/>
              </a:rPr>
              <a:t>Our vision extends beyond technology; it's about empowering communities, supporting healthcare professionals, and ultimately, saving lives. Thank you for joining us on this critical journey.</a:t>
            </a:r>
            <a:endParaRPr lang="en-US" sz="1550" dirty="0"/>
          </a:p>
        </p:txBody>
      </p:sp>
    </p:spTree>
  </p:cSld>
  <p:clrMapOvr>
    <a:masterClrMapping/>
  </p:clrMapOvr>
</p:sld>
</file>

<file path=ppt/theme/theme1.xml><?xml version="1.0" encoding="utf-8"?>
<a:theme xmlns:a="http://schemas.openxmlformats.org/drawingml/2006/main" name="Office 2013 - 2022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3E4F19A7-A959-40BB-972C-4880BAF8EB0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7</TotalTime>
  <Words>2068</Words>
  <Application>Microsoft Office PowerPoint</Application>
  <PresentationFormat>Custom</PresentationFormat>
  <Paragraphs>95</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Calibri</vt:lpstr>
      <vt:lpstr>Inconsolata Bold</vt:lpstr>
      <vt:lpstr>Fira Sans</vt:lpstr>
      <vt:lpstr>Calibri Light</vt:lpstr>
      <vt:lpstr>Arial</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Rashed Khaleel Abd Aqrabawi</cp:lastModifiedBy>
  <cp:revision>2</cp:revision>
  <dcterms:created xsi:type="dcterms:W3CDTF">2025-07-24T19:19:05Z</dcterms:created>
  <dcterms:modified xsi:type="dcterms:W3CDTF">2025-07-24T19:29:02Z</dcterms:modified>
</cp:coreProperties>
</file>